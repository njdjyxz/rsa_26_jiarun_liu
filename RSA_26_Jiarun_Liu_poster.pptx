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1148000" cy="329184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25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Method， cohort build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E03D32-448D-48D6-9F74-CBD4FE1889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148000" cy="4251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11199EE-851D-480A-82EE-30FE3F8398CF}"/>
              </a:ext>
            </a:extLst>
          </p:cNvPr>
          <p:cNvSpPr>
            <a:spLocks noGrp="1"/>
          </p:cNvSpPr>
          <p:nvPr/>
        </p:nvSpPr>
        <p:spPr>
          <a:xfrm>
            <a:off x="0" y="4069080"/>
            <a:ext cx="41148000" cy="182880"/>
          </a:xfrm>
          <a:prstGeom prst="rect">
            <a:avLst/>
          </a:prstGeom>
          <a:solidFill>
            <a:srgbClr val="D39C2D"/>
          </a:solidFill>
          <a:ln w="12700">
            <a:solidFill>
              <a:srgbClr val="D39C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05EC09-12B5-43B7-A3F6-E89A469EC71B}"/>
              </a:ext>
            </a:extLst>
          </p:cNvPr>
          <p:cNvSpPr>
            <a:spLocks noGrp="1"/>
          </p:cNvSpPr>
          <p:nvPr/>
        </p:nvSpPr>
        <p:spPr>
          <a:xfrm>
            <a:off x="914400" y="530352"/>
            <a:ext cx="25181169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sz="6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Clinical and Behavioral Factors Associated with Alcohol Use Disorder</a:t>
            </a:r>
            <a:r>
              <a:rPr sz="6000"/>
              <a:t> </a:t>
            </a:r>
            <a:r>
              <a:rPr sz="6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 the All of Us Research Program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BBBA4F-2B93-42F7-8A22-7A3953C8CA14}"/>
              </a:ext>
            </a:extLst>
          </p:cNvPr>
          <p:cNvSpPr>
            <a:spLocks noGrp="1"/>
          </p:cNvSpPr>
          <p:nvPr/>
        </p:nvSpPr>
        <p:spPr>
          <a:xfrm>
            <a:off x="914400" y="2500470"/>
            <a:ext cx="32004000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200" b="1" u="sng">
                <a:solidFill>
                  <a:srgbClr val="E6EDF3"/>
                </a:solidFill>
                <a:latin typeface="Aptos"/>
                <a:ea typeface="Aptos"/>
                <a:cs typeface="Aptos"/>
              </a:rPr>
              <a:t>Jiarun Liu</a:t>
            </a:r>
            <a:r>
              <a:rPr sz="2200">
                <a:solidFill>
                  <a:srgbClr val="E6EDF3"/>
                </a:solidFill>
                <a:latin typeface="Aptos"/>
                <a:ea typeface="Aptos"/>
                <a:cs typeface="Aptos"/>
              </a:rPr>
              <a:t>, Stanislav Listopad, Qian Peng  |  UCSD, Scripps Research  |  RSA 2026  |  Poster # S12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EE8B62-79FB-4A91-AB7F-694B0E549E0E}"/>
              </a:ext>
            </a:extLst>
          </p:cNvPr>
          <p:cNvSpPr>
            <a:spLocks noGrp="1"/>
          </p:cNvSpPr>
          <p:nvPr/>
        </p:nvSpPr>
        <p:spPr>
          <a:xfrm>
            <a:off x="914400" y="3094647"/>
            <a:ext cx="32735520" cy="6766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FFF3D5"/>
                </a:solidFill>
                <a:latin typeface="Aptos"/>
                <a:ea typeface="Aptos"/>
                <a:cs typeface="Aptos"/>
              </a:rPr>
              <a:t>Keywords: AUD risk and comorbidity, All Of Us, Electronic Health Record (EHR)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3997F32-4728-4796-8EEF-B67C2A47A239}"/>
              </a:ext>
            </a:extLst>
          </p:cNvPr>
          <p:cNvSpPr>
            <a:spLocks noGrp="1"/>
          </p:cNvSpPr>
          <p:nvPr/>
        </p:nvSpPr>
        <p:spPr>
          <a:xfrm>
            <a:off x="777240" y="4709160"/>
            <a:ext cx="1286256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6756EF6-58F4-40B9-9183-F01084EA0528}"/>
              </a:ext>
            </a:extLst>
          </p:cNvPr>
          <p:cNvSpPr>
            <a:spLocks noGrp="1"/>
          </p:cNvSpPr>
          <p:nvPr/>
        </p:nvSpPr>
        <p:spPr>
          <a:xfrm>
            <a:off x="978408" y="4773168"/>
            <a:ext cx="12460224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Abstract, Workflow &amp; Study Design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9807597-EFF3-4924-8017-201525FCE507}"/>
              </a:ext>
            </a:extLst>
          </p:cNvPr>
          <p:cNvSpPr>
            <a:spLocks noGrp="1"/>
          </p:cNvSpPr>
          <p:nvPr/>
        </p:nvSpPr>
        <p:spPr>
          <a:xfrm>
            <a:off x="777240" y="5394960"/>
            <a:ext cx="12862560" cy="1645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AD2D9"/>
            </a:solidFill>
            <a:prstDash val="solid"/>
          </a:ln>
          <a:effectLst>
            <a:outerShdw blurRad="12700" dist="50800" dir="2700000" algn="bl" rotWithShape="0">
              <a:srgbClr val="B9C1C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B763FC3-D9C1-4DFD-8474-C4FB46CF6D5B}"/>
              </a:ext>
            </a:extLst>
          </p:cNvPr>
          <p:cNvSpPr>
            <a:spLocks noGrp="1"/>
          </p:cNvSpPr>
          <p:nvPr/>
        </p:nvSpPr>
        <p:spPr>
          <a:xfrm>
            <a:off x="1033272" y="5559552"/>
            <a:ext cx="1235049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2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Study question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06B0043-433A-4984-9631-61414C443B2B}"/>
              </a:ext>
            </a:extLst>
          </p:cNvPr>
          <p:cNvSpPr>
            <a:spLocks noGrp="1"/>
          </p:cNvSpPr>
          <p:nvPr/>
        </p:nvSpPr>
        <p:spPr>
          <a:xfrm>
            <a:off x="1097280" y="5934456"/>
            <a:ext cx="12222480" cy="932688"/>
          </a:xfrm>
          <a:prstGeom prst="rect">
            <a:avLst/>
          </a:prstGeom>
          <a:noFill/>
        </p:spPr>
        <p:txBody>
          <a:bodyPr wrap="square" lIns="762" tIns="762" rIns="762" bIns="762" anchor="t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Which clinical conditions are associated with AUD after adjusting for demographic, behavioral, socioeconomic, and family-history factors?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18B3100-4A97-4FB4-806A-A4BA09933488}"/>
              </a:ext>
            </a:extLst>
          </p:cNvPr>
          <p:cNvSpPr>
            <a:spLocks noGrp="1"/>
          </p:cNvSpPr>
          <p:nvPr/>
        </p:nvSpPr>
        <p:spPr>
          <a:xfrm>
            <a:off x="777240" y="7315200"/>
            <a:ext cx="12862560" cy="6766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AD2D9"/>
            </a:solidFill>
            <a:prstDash val="solid"/>
          </a:ln>
          <a:effectLst>
            <a:outerShdw blurRad="12700" dist="50800" dir="2700000" algn="bl" rotWithShape="0">
              <a:srgbClr val="B9C1C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9CDAEA8-058C-4E41-9504-083051C984B4}"/>
              </a:ext>
            </a:extLst>
          </p:cNvPr>
          <p:cNvSpPr>
            <a:spLocks noGrp="1"/>
          </p:cNvSpPr>
          <p:nvPr/>
        </p:nvSpPr>
        <p:spPr>
          <a:xfrm>
            <a:off x="1033272" y="7483901"/>
            <a:ext cx="1235049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2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0AE3220-DA14-4250-BDEC-3C6017BE620D}"/>
              </a:ext>
            </a:extLst>
          </p:cNvPr>
          <p:cNvSpPr>
            <a:spLocks noGrp="1"/>
          </p:cNvSpPr>
          <p:nvPr/>
        </p:nvSpPr>
        <p:spPr>
          <a:xfrm>
            <a:off x="1325880" y="9185148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Survey-based analysis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9D9EC90-28BA-43C1-B64D-D4514263053F}"/>
              </a:ext>
            </a:extLst>
          </p:cNvPr>
          <p:cNvSpPr>
            <a:spLocks noGrp="1"/>
          </p:cNvSpPr>
          <p:nvPr/>
        </p:nvSpPr>
        <p:spPr>
          <a:xfrm>
            <a:off x="1325880" y="11215116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EHR-based analysis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32395F6-982A-4AC3-A6D0-669D51311D48}"/>
              </a:ext>
            </a:extLst>
          </p:cNvPr>
          <p:cNvSpPr>
            <a:spLocks noGrp="1"/>
          </p:cNvSpPr>
          <p:nvPr/>
        </p:nvSpPr>
        <p:spPr>
          <a:xfrm>
            <a:off x="1097280" y="7987284"/>
            <a:ext cx="11856720" cy="5765292"/>
          </a:xfrm>
          <a:prstGeom prst="rect">
            <a:avLst/>
          </a:prstGeom>
          <a:noFill/>
        </p:spPr>
        <p:txBody>
          <a:bodyPr wrap="square" lIns="762" tIns="762" rIns="762" bIns="762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>
                <a:solidFill>
                  <a:srgbClr val="17212B"/>
                </a:solidFill>
                <a:latin typeface="Aptos"/>
                <a:ea typeface="Aptos"/>
                <a:cs typeface="Aptos"/>
              </a:rPr>
              <a:t>Alcohol use disorder (AUD) is clinically complex and often co-occurs with psychiatric, substance-use, liver-related, behavioral, socioeconomic, and family-history factors. This study used the All of Us Research Program to characterize conditions associated with AUD across two complementary data sources: participant-reported survey data and electronic health record (EHR) diagnosis data.</a:t>
            </a:r>
          </a:p>
          <a:p>
            <a:pPr marL="0" indent="0" algn="l">
              <a:lnSpc>
                <a:spcPct val="150000"/>
              </a:lnSpc>
              <a:buNone/>
            </a:pPr>
            <a:endParaRPr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>
                <a:solidFill>
                  <a:srgbClr val="17212B"/>
                </a:solidFill>
                <a:latin typeface="Aptos"/>
                <a:ea typeface="Aptos"/>
                <a:cs typeface="Aptos"/>
              </a:rPr>
              <a:t>Survey-based AUD was defined from the Personal and Family Health History survey, while EHR-based AUD was defined from clinical diagnosis records. Candidate predictors included approximately 150 survey-reported conditions and the top 1,000 most prevalent non-AUD EHR conditions. Each condition was tested one at a time using logistic regression with covariate adjustment. Models included a basic demographic adjustment set and an expanded set incorporating behavioral, socioeconomic, and family-history variables.</a:t>
            </a:r>
          </a:p>
          <a:p>
            <a:pPr marL="0" indent="0" algn="l">
              <a:lnSpc>
                <a:spcPct val="150000"/>
              </a:lnSpc>
              <a:buNone/>
            </a:pPr>
            <a:endParaRPr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>
                <a:solidFill>
                  <a:srgbClr val="17212B"/>
                </a:solidFill>
                <a:latin typeface="Aptos"/>
                <a:ea typeface="Aptos"/>
                <a:cs typeface="Aptos"/>
              </a:rPr>
              <a:t>Across both survey and EHR analyses, the strongest AUD-associated conditions clustered around substance-use-related conditions, psychiatric conditions, and liver or pancreatic disease. Survey and EHR data were not interchangeable, but they provided complementary evidence for consistent AUD-associated comorbidity patterns.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F7BAEE8-2527-4EC9-9C70-A9BEB854D5A6}"/>
              </a:ext>
            </a:extLst>
          </p:cNvPr>
          <p:cNvSpPr>
            <a:spLocks noGrp="1"/>
          </p:cNvSpPr>
          <p:nvPr/>
        </p:nvSpPr>
        <p:spPr>
          <a:xfrm>
            <a:off x="777240" y="14538960"/>
            <a:ext cx="12862560" cy="8101584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CAD2D9"/>
            </a:solidFill>
            <a:prstDash val="solid"/>
          </a:ln>
          <a:effectLst>
            <a:outerShdw blurRad="12700" dist="50800" dir="2700000" algn="bl" rotWithShape="0">
              <a:srgbClr val="B9C1C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FDC47A6-F696-479E-B145-06B73BD4ADB6}"/>
              </a:ext>
            </a:extLst>
          </p:cNvPr>
          <p:cNvSpPr>
            <a:spLocks noGrp="1"/>
          </p:cNvSpPr>
          <p:nvPr/>
        </p:nvSpPr>
        <p:spPr>
          <a:xfrm>
            <a:off x="1033272" y="14716515"/>
            <a:ext cx="1235049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2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3480E40-EB3A-4362-B113-0E9D8DBEC527}"/>
              </a:ext>
            </a:extLst>
          </p:cNvPr>
          <p:cNvSpPr>
            <a:spLocks noGrp="1"/>
          </p:cNvSpPr>
          <p:nvPr/>
        </p:nvSpPr>
        <p:spPr>
          <a:xfrm>
            <a:off x="1143000" y="15356595"/>
            <a:ext cx="12131040" cy="6881613"/>
          </a:xfrm>
          <a:prstGeom prst="roundRect">
            <a:avLst>
              <a:gd name="adj" fmla="val 1569"/>
            </a:avLst>
          </a:prstGeom>
          <a:solidFill>
            <a:srgbClr val="F2F5F8"/>
          </a:solidFill>
          <a:ln w="19050">
            <a:solidFill>
              <a:srgbClr val="7C8B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6D14624-EE4D-4461-A673-E0A1728DEBD9}"/>
              </a:ext>
            </a:extLst>
          </p:cNvPr>
          <p:cNvSpPr>
            <a:spLocks noGrp="1"/>
          </p:cNvSpPr>
          <p:nvPr/>
        </p:nvSpPr>
        <p:spPr>
          <a:xfrm>
            <a:off x="777240" y="23097743"/>
            <a:ext cx="12862560" cy="7320187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CAD2D9"/>
            </a:solidFill>
            <a:prstDash val="solid"/>
          </a:ln>
          <a:effectLst>
            <a:outerShdw blurRad="12700" dist="50800" dir="2700000" algn="bl" rotWithShape="0">
              <a:srgbClr val="B9C1C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417A13A-738C-4EDF-9014-44C2ADA56552}"/>
              </a:ext>
            </a:extLst>
          </p:cNvPr>
          <p:cNvSpPr>
            <a:spLocks noGrp="1"/>
          </p:cNvSpPr>
          <p:nvPr/>
        </p:nvSpPr>
        <p:spPr>
          <a:xfrm>
            <a:off x="1033272" y="23270670"/>
            <a:ext cx="1235049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2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D176F4B-3E65-439D-AC8A-2232F40A9BAE}"/>
              </a:ext>
            </a:extLst>
          </p:cNvPr>
          <p:cNvSpPr>
            <a:spLocks noGrp="1"/>
          </p:cNvSpPr>
          <p:nvPr/>
        </p:nvSpPr>
        <p:spPr>
          <a:xfrm>
            <a:off x="14142720" y="4709160"/>
            <a:ext cx="12862560" cy="50292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D6FD00B-0D5F-4BBD-BCA6-76A2293A57B3}"/>
              </a:ext>
            </a:extLst>
          </p:cNvPr>
          <p:cNvSpPr>
            <a:spLocks noGrp="1"/>
          </p:cNvSpPr>
          <p:nvPr/>
        </p:nvSpPr>
        <p:spPr>
          <a:xfrm>
            <a:off x="14343888" y="4773168"/>
            <a:ext cx="12460224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Cohort &amp; Covariate Groups</a:t>
            </a: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F4FC8854-76B2-4AE3-AE32-649B0CF82C92}"/>
              </a:ext>
            </a:extLst>
          </p:cNvPr>
          <p:cNvSpPr>
            <a:spLocks noGrp="1"/>
          </p:cNvSpPr>
          <p:nvPr/>
        </p:nvSpPr>
        <p:spPr>
          <a:xfrm>
            <a:off x="14142720" y="5394960"/>
            <a:ext cx="12862560" cy="68122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CAD2D9"/>
            </a:solidFill>
            <a:prstDash val="solid"/>
          </a:ln>
          <a:effectLst>
            <a:outerShdw blurRad="12700" dist="50800" dir="2700000" algn="bl" rotWithShape="0">
              <a:srgbClr val="B9C1C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BCF8DD11-A5C8-4545-AFB0-BE8A16D7FF77}"/>
              </a:ext>
            </a:extLst>
          </p:cNvPr>
          <p:cNvSpPr>
            <a:spLocks noGrp="1"/>
          </p:cNvSpPr>
          <p:nvPr/>
        </p:nvSpPr>
        <p:spPr>
          <a:xfrm>
            <a:off x="14142720" y="20651932"/>
            <a:ext cx="12862560" cy="502920"/>
          </a:xfrm>
          <a:prstGeom prst="rect">
            <a:avLst/>
          </a:prstGeom>
          <a:solidFill>
            <a:srgbClr val="D39C2D"/>
          </a:solidFill>
          <a:ln w="12700">
            <a:solidFill>
              <a:srgbClr val="D39C2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AFD0493B-9C1B-4980-B09E-320BC4DF0BCA}"/>
              </a:ext>
            </a:extLst>
          </p:cNvPr>
          <p:cNvSpPr>
            <a:spLocks noGrp="1"/>
          </p:cNvSpPr>
          <p:nvPr/>
        </p:nvSpPr>
        <p:spPr>
          <a:xfrm>
            <a:off x="14343888" y="20715732"/>
            <a:ext cx="12460224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Main Results &amp; Takeaway</a:t>
            </a:r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14ECA1CE-ED07-4B7B-B616-67C030999BC8}"/>
              </a:ext>
            </a:extLst>
          </p:cNvPr>
          <p:cNvSpPr>
            <a:spLocks noGrp="1"/>
          </p:cNvSpPr>
          <p:nvPr/>
        </p:nvSpPr>
        <p:spPr>
          <a:xfrm>
            <a:off x="27508200" y="5394960"/>
            <a:ext cx="12862560" cy="11338560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CAD2D9"/>
            </a:solidFill>
            <a:prstDash val="solid"/>
          </a:ln>
          <a:effectLst>
            <a:outerShdw blurRad="12700" dist="50800" dir="2700000" algn="bl" rotWithShape="0">
              <a:srgbClr val="B9C1C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705D37B4-A68E-4D3A-9D78-9884D8857E1A}"/>
              </a:ext>
            </a:extLst>
          </p:cNvPr>
          <p:cNvSpPr>
            <a:spLocks noGrp="1"/>
          </p:cNvSpPr>
          <p:nvPr/>
        </p:nvSpPr>
        <p:spPr>
          <a:xfrm>
            <a:off x="27764232" y="5559552"/>
            <a:ext cx="1235049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2200" b="1" dirty="0">
                <a:solidFill>
                  <a:srgbClr val="D39C2D"/>
                </a:solidFill>
                <a:latin typeface="Aptos"/>
                <a:ea typeface="Aptos"/>
                <a:cs typeface="Aptos"/>
              </a:rPr>
              <a:t>Survey–EHR Comparison: Convergent AUD Signals</a:t>
            </a:r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9CFA1D9C-6846-41CD-87FC-6DE4EEF950FF}"/>
              </a:ext>
            </a:extLst>
          </p:cNvPr>
          <p:cNvSpPr>
            <a:spLocks noGrp="1"/>
          </p:cNvSpPr>
          <p:nvPr/>
        </p:nvSpPr>
        <p:spPr>
          <a:xfrm>
            <a:off x="27873960" y="6035040"/>
            <a:ext cx="12131040" cy="9006840"/>
          </a:xfrm>
          <a:prstGeom prst="roundRect">
            <a:avLst>
              <a:gd name="adj" fmla="val 1218"/>
            </a:avLst>
          </a:prstGeom>
          <a:solidFill>
            <a:srgbClr val="F2F5F8"/>
          </a:solidFill>
          <a:ln w="19050">
            <a:solidFill>
              <a:srgbClr val="7C8B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6EFCAAC7-51C7-48BD-8C8D-2B08EC900101}"/>
              </a:ext>
            </a:extLst>
          </p:cNvPr>
          <p:cNvSpPr>
            <a:spLocks noGrp="1"/>
          </p:cNvSpPr>
          <p:nvPr/>
        </p:nvSpPr>
        <p:spPr>
          <a:xfrm>
            <a:off x="27508200" y="17099280"/>
            <a:ext cx="12862560" cy="7635240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CAD2D9"/>
            </a:solidFill>
            <a:prstDash val="solid"/>
          </a:ln>
          <a:effectLst>
            <a:outerShdw blurRad="12700" dist="50800" dir="2700000" algn="bl" rotWithShape="0">
              <a:srgbClr val="B9C1C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9E4ED5A-2470-4E7A-ABB1-C6D4C86727CA}"/>
              </a:ext>
            </a:extLst>
          </p:cNvPr>
          <p:cNvSpPr>
            <a:spLocks noGrp="1"/>
          </p:cNvSpPr>
          <p:nvPr/>
        </p:nvSpPr>
        <p:spPr>
          <a:xfrm>
            <a:off x="27764232" y="17263872"/>
            <a:ext cx="1235049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r>
              <a:rPr lang="en-US" sz="2200" b="1" dirty="0">
                <a:solidFill>
                  <a:srgbClr val="D39C2D"/>
                </a:solidFill>
                <a:latin typeface="Aptos"/>
                <a:ea typeface="Aptos"/>
                <a:cs typeface="Aptos"/>
              </a:rPr>
              <a:t>Basic</a:t>
            </a:r>
            <a:r>
              <a:rPr lang="en-US" altLang="zh-CN" sz="2200" b="1" dirty="0">
                <a:solidFill>
                  <a:srgbClr val="D39C2D"/>
                </a:solidFill>
                <a:ea typeface="Aptos"/>
                <a:cs typeface="Aptos"/>
              </a:rPr>
              <a:t>–</a:t>
            </a:r>
            <a:r>
              <a:rPr lang="en-US" sz="2200" b="1" dirty="0">
                <a:solidFill>
                  <a:srgbClr val="D39C2D"/>
                </a:solidFill>
                <a:latin typeface="Aptos"/>
                <a:ea typeface="Aptos"/>
                <a:cs typeface="Aptos"/>
              </a:rPr>
              <a:t>Expanded Adjustment Model </a:t>
            </a:r>
            <a:r>
              <a:rPr sz="2200" b="1" dirty="0">
                <a:solidFill>
                  <a:srgbClr val="D39C2D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31982090-7DEA-4768-B514-D5C533A25ED9}"/>
              </a:ext>
            </a:extLst>
          </p:cNvPr>
          <p:cNvSpPr>
            <a:spLocks noGrp="1"/>
          </p:cNvSpPr>
          <p:nvPr/>
        </p:nvSpPr>
        <p:spPr>
          <a:xfrm>
            <a:off x="27508200" y="25054560"/>
            <a:ext cx="12862560" cy="536337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AD2D9"/>
            </a:solidFill>
            <a:prstDash val="solid"/>
          </a:ln>
          <a:effectLst>
            <a:outerShdw blurRad="12700" dist="50800" dir="2700000" algn="bl" rotWithShape="0">
              <a:srgbClr val="B9C1C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53EDD840-A5B5-432C-9797-E0C9EDEDDB43}"/>
              </a:ext>
            </a:extLst>
          </p:cNvPr>
          <p:cNvSpPr>
            <a:spLocks noGrp="1"/>
          </p:cNvSpPr>
          <p:nvPr/>
        </p:nvSpPr>
        <p:spPr>
          <a:xfrm>
            <a:off x="27764232" y="25219152"/>
            <a:ext cx="1235049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2200" b="1">
                <a:solidFill>
                  <a:srgbClr val="D39C2D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A3F33324-1F5D-43C7-AFA7-C581BF002E08}"/>
              </a:ext>
            </a:extLst>
          </p:cNvPr>
          <p:cNvSpPr>
            <a:spLocks noGrp="1"/>
          </p:cNvSpPr>
          <p:nvPr/>
        </p:nvSpPr>
        <p:spPr>
          <a:xfrm>
            <a:off x="27919680" y="25648920"/>
            <a:ext cx="12039600" cy="4480560"/>
          </a:xfrm>
          <a:prstGeom prst="rect">
            <a:avLst/>
          </a:prstGeom>
          <a:noFill/>
        </p:spPr>
        <p:txBody>
          <a:bodyPr wrap="square" lIns="762" tIns="762" rIns="762" bIns="762" anchor="t">
            <a:noAutofit/>
          </a:bodyPr>
          <a:lstStyle/>
          <a:p>
            <a:pPr marL="342900" indent="-342900">
              <a:lnSpc>
                <a:spcPct val="160000"/>
              </a:lnSpc>
              <a:buChar char="•"/>
            </a:pPr>
            <a:r>
              <a:rPr>
                <a:solidFill>
                  <a:srgbClr val="17212B"/>
                </a:solidFill>
                <a:latin typeface="Aptos"/>
                <a:ea typeface="Aptos"/>
                <a:cs typeface="Aptos"/>
              </a:rPr>
              <a:t>AUD-associated conditions clustered around three major clinical domains: substance use, mental health, and liver/pancreatic disease.</a:t>
            </a:r>
          </a:p>
          <a:p>
            <a:pPr marL="342900" indent="-342900">
              <a:lnSpc>
                <a:spcPct val="160000"/>
              </a:lnSpc>
              <a:buChar char="•"/>
            </a:pPr>
            <a:r>
              <a:rPr>
                <a:solidFill>
                  <a:srgbClr val="17212B"/>
                </a:solidFill>
                <a:latin typeface="Aptos"/>
                <a:ea typeface="Aptos"/>
                <a:cs typeface="Aptos"/>
              </a:rPr>
              <a:t>Similar clinical themes appeared in both survey-reported and EHR-derived analyses, supporting a consistent AUD-related comorbidity pattern across data sources.</a:t>
            </a:r>
          </a:p>
          <a:p>
            <a:pPr marL="342900" indent="-342900">
              <a:lnSpc>
                <a:spcPct val="160000"/>
              </a:lnSpc>
              <a:buChar char="•"/>
            </a:pPr>
            <a:r>
              <a:rPr>
                <a:solidFill>
                  <a:srgbClr val="17212B"/>
                </a:solidFill>
                <a:latin typeface="Aptos"/>
                <a:ea typeface="Aptos"/>
                <a:cs typeface="Aptos"/>
              </a:rPr>
              <a:t>Survey and EHR data were not interchangeable: survey data captured participant-reported disease history, while EHR data reflected clinically documented diagnoses.</a:t>
            </a:r>
          </a:p>
          <a:p>
            <a:pPr marL="342900" indent="-342900">
              <a:lnSpc>
                <a:spcPct val="160000"/>
              </a:lnSpc>
              <a:buChar char="•"/>
            </a:pPr>
            <a:r>
              <a:rPr>
                <a:solidFill>
                  <a:srgbClr val="17212B"/>
                </a:solidFill>
                <a:latin typeface="Aptos"/>
                <a:ea typeface="Aptos"/>
                <a:cs typeface="Aptos"/>
              </a:rPr>
              <a:t>Expanded covariate adjustment helped account for demographic, behavioral, socioeconomic, and family-history factors, making the observed associations more conservative and interpretable.</a:t>
            </a:r>
          </a:p>
          <a:p>
            <a:pPr marL="342900" indent="-342900">
              <a:lnSpc>
                <a:spcPct val="160000"/>
              </a:lnSpc>
              <a:buChar char="•"/>
            </a:pPr>
            <a:r>
              <a:rPr>
                <a:solidFill>
                  <a:srgbClr val="17212B"/>
                </a:solidFill>
                <a:latin typeface="Aptos"/>
                <a:ea typeface="Aptos"/>
                <a:cs typeface="Aptos"/>
              </a:rPr>
              <a:t>These findings suggest that linked survey and EHR data from All of Us can help characterize the broader clinical and social context of AUD.</a:t>
            </a:r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B5A467DD-77FC-4F3B-9695-7556568168F4}"/>
              </a:ext>
            </a:extLst>
          </p:cNvPr>
          <p:cNvSpPr>
            <a:spLocks noGrp="1"/>
          </p:cNvSpPr>
          <p:nvPr/>
        </p:nvSpPr>
        <p:spPr>
          <a:xfrm>
            <a:off x="-6135" y="30890052"/>
            <a:ext cx="41148000" cy="2055906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C415E943-8BB4-4DEA-B928-C463DF61D9C7}"/>
              </a:ext>
            </a:extLst>
          </p:cNvPr>
          <p:cNvSpPr>
            <a:spLocks noGrp="1"/>
          </p:cNvSpPr>
          <p:nvPr/>
        </p:nvSpPr>
        <p:spPr>
          <a:xfrm>
            <a:off x="868680" y="31222603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Acknowledgements</a:t>
            </a:r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F1230E12-12A6-45CF-A6DC-36993BAB8907}"/>
              </a:ext>
            </a:extLst>
          </p:cNvPr>
          <p:cNvSpPr>
            <a:spLocks noGrp="1"/>
          </p:cNvSpPr>
          <p:nvPr/>
        </p:nvSpPr>
        <p:spPr>
          <a:xfrm>
            <a:off x="868680" y="31679803"/>
            <a:ext cx="964692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t>Funded by grants from National Institute on Alcoholism and Alcohol Abuse (NIAAA) T32 AA007456, and National Institute of Drug Abuse (NIDA) grants DP1 DA054373.</a:t>
            </a:r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3A632BAF-3408-4111-8282-49379F2300A8}"/>
              </a:ext>
            </a:extLst>
          </p:cNvPr>
          <p:cNvSpPr>
            <a:spLocks noGrp="1"/>
          </p:cNvSpPr>
          <p:nvPr/>
        </p:nvSpPr>
        <p:spPr>
          <a:xfrm>
            <a:off x="33741360" y="31890115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endParaRPr/>
          </a:p>
        </p:txBody>
      </p:sp>
      <p:pic>
        <p:nvPicPr>
          <p:cNvPr id="177" name="图形 1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74163" y="929408"/>
            <a:ext cx="4657701" cy="886413"/>
          </a:xfrm>
          <a:prstGeom prst="rect">
            <a:avLst/>
          </a:prstGeom>
        </p:spPr>
      </p:pic>
      <p:pic>
        <p:nvPicPr>
          <p:cNvPr id="178" name="图形 1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74163" y="2392930"/>
            <a:ext cx="6098588" cy="744456"/>
          </a:xfrm>
          <a:prstGeom prst="rect">
            <a:avLst/>
          </a:prstGeom>
        </p:spPr>
      </p:pic>
      <p:sp>
        <p:nvSpPr>
          <p:cNvPr id="114" name="Text 27">
            <a:extLst>
              <a:ext uri="{FF2B5EF4-FFF2-40B4-BE49-F238E27FC236}">
                <a16:creationId xmlns:a16="http://schemas.microsoft.com/office/drawing/2014/main" id="{AC2859A2-F6F9-A8B3-950E-BAC9C97C6E08}"/>
              </a:ext>
            </a:extLst>
          </p:cNvPr>
          <p:cNvSpPr>
            <a:spLocks noGrp="1"/>
          </p:cNvSpPr>
          <p:nvPr/>
        </p:nvSpPr>
        <p:spPr>
          <a:xfrm>
            <a:off x="1097280" y="23873132"/>
            <a:ext cx="11856720" cy="5879592"/>
          </a:xfrm>
          <a:prstGeom prst="rect">
            <a:avLst/>
          </a:prstGeom>
          <a:noFill/>
        </p:spPr>
        <p:txBody>
          <a:bodyPr wrap="square" lIns="762" tIns="762" rIns="762" bIns="762" anchor="t">
            <a:normAutofit/>
          </a:bodyPr>
          <a:lstStyle/>
          <a:p>
            <a:pPr marL="285750" indent="-285750">
              <a:buChar char="•"/>
            </a:pPr>
            <a:r>
              <a:rPr b="1"/>
              <a:t>Data source:</a:t>
            </a:r>
            <a:r>
              <a:t> All of Us Research Program survey and electronic health record (EHR) data</a:t>
            </a:r>
          </a:p>
          <a:p>
            <a:pPr marL="285750" indent="-285750">
              <a:buChar char="•"/>
            </a:pPr>
            <a:r>
              <a:rPr b="1"/>
              <a:t>AUD outcome definitions:</a:t>
            </a:r>
          </a:p>
          <a:p>
            <a:pPr marL="742950" indent="-285750">
              <a:buChar char="•"/>
            </a:pPr>
            <a:r>
              <a:t>Survey AUD: defined from the Personal and Family Health History survey</a:t>
            </a:r>
          </a:p>
          <a:p>
            <a:pPr marL="742950" indent="-285750">
              <a:buChar char="•"/>
            </a:pPr>
            <a:r>
              <a:t>EHR AUD: defined from clinical diagnosis records</a:t>
            </a:r>
          </a:p>
          <a:p>
            <a:pPr marL="285750" indent="-285750">
              <a:buChar char="•"/>
            </a:pPr>
            <a:r>
              <a:rPr b="1"/>
              <a:t>Candidate condition screens:</a:t>
            </a:r>
          </a:p>
          <a:p>
            <a:pPr marL="742950" indent="-285750">
              <a:buChar char="•"/>
            </a:pPr>
            <a:r>
              <a:t>Survey screen: ~150 survey-reported diseases/conditions</a:t>
            </a:r>
          </a:p>
          <a:p>
            <a:pPr marL="742950" indent="-285750">
              <a:buChar char="•"/>
            </a:pPr>
            <a:r>
              <a:t>EHR screen: top 1,000 most prevalent non-AUD EHR conditions</a:t>
            </a:r>
          </a:p>
          <a:p>
            <a:pPr marL="285750" indent="-285750">
              <a:buChar char="•"/>
            </a:pPr>
            <a:r>
              <a:rPr b="1"/>
              <a:t>Modeling approach:</a:t>
            </a:r>
          </a:p>
          <a:p>
            <a:pPr marL="742950" indent="-285750">
              <a:buChar char="•"/>
            </a:pPr>
            <a:r>
              <a:t>Tested each candidate condition one at a time</a:t>
            </a:r>
          </a:p>
          <a:p>
            <a:pPr marL="742950" indent="-285750">
              <a:buChar char="•"/>
            </a:pPr>
            <a:r>
              <a:t>Used logistic regression to estimate each condition’s association with binary AUD status</a:t>
            </a:r>
          </a:p>
          <a:p>
            <a:pPr marL="742950" indent="-285750">
              <a:buChar char="•"/>
            </a:pPr>
            <a:r>
              <a:t>Reported adjusted odds ratios and confidence intervals</a:t>
            </a:r>
          </a:p>
          <a:p>
            <a:pPr marL="285750" indent="-285750">
              <a:buChar char="•"/>
            </a:pPr>
            <a:r>
              <a:rPr b="1"/>
              <a:t>Covariate adjustment:</a:t>
            </a:r>
          </a:p>
          <a:p>
            <a:pPr marL="742950" indent="-285750">
              <a:buChar char="•"/>
            </a:pPr>
            <a:r>
              <a:t>Basic model: age, race/ethnicity, sex at birth, education</a:t>
            </a:r>
          </a:p>
          <a:p>
            <a:pPr marL="742950" indent="-285750">
              <a:buChar char="•"/>
            </a:pPr>
            <a:r>
              <a:t>Expanded model: marital status, health insurance, employment, household income, smoking history, and AUD family history</a:t>
            </a:r>
          </a:p>
          <a:p>
            <a:pPr marL="742950" indent="-285750">
              <a:buChar char="•"/>
            </a:pPr>
            <a:r>
              <a:t>Education was removed from the final expanded model after losing independent significance under richer adjustment</a:t>
            </a:r>
          </a:p>
          <a:p>
            <a:pPr marL="285750" indent="-285750">
              <a:buChar char="•"/>
            </a:pPr>
            <a:r>
              <a:rPr b="1"/>
              <a:t>Survey–EHR comparison:</a:t>
            </a:r>
          </a:p>
          <a:p>
            <a:pPr marL="742950" indent="-285750">
              <a:buChar char="•"/>
            </a:pPr>
            <a:r>
              <a:t>Matched similar condition names across survey and EHR sources using text similarity</a:t>
            </a:r>
          </a:p>
          <a:p>
            <a:pPr marL="742950" indent="-285750">
              <a:buChar char="•"/>
            </a:pPr>
            <a:r>
              <a:t>Compared adjusted odds ratios to identify convergent AUD-associated clinical signals</a:t>
            </a:r>
          </a:p>
        </p:txBody>
      </p:sp>
      <p:pic>
        <p:nvPicPr>
          <p:cNvPr id="181" name="图片 1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8575" y="6168458"/>
            <a:ext cx="10170850" cy="5724144"/>
          </a:xfrm>
          <a:prstGeom prst="rect">
            <a:avLst/>
          </a:prstGeom>
        </p:spPr>
      </p:pic>
      <p:sp>
        <p:nvSpPr>
          <p:cNvPr id="119" name="Text 63">
            <a:extLst>
              <a:ext uri="{FF2B5EF4-FFF2-40B4-BE49-F238E27FC236}">
                <a16:creationId xmlns:a16="http://schemas.microsoft.com/office/drawing/2014/main" id="{B518396D-400A-4798-9F61-AF1D47B7F542}"/>
              </a:ext>
            </a:extLst>
          </p:cNvPr>
          <p:cNvSpPr>
            <a:spLocks noGrp="1"/>
          </p:cNvSpPr>
          <p:nvPr/>
        </p:nvSpPr>
        <p:spPr>
          <a:xfrm>
            <a:off x="14398752" y="5555810"/>
            <a:ext cx="1235049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22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Cohort Statistics</a:t>
            </a:r>
          </a:p>
        </p:txBody>
      </p:sp>
      <p:pic>
        <p:nvPicPr>
          <p:cNvPr id="183" name="图片 1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0742" y="13352323"/>
            <a:ext cx="10980756" cy="6001219"/>
          </a:xfrm>
          <a:prstGeom prst="rect">
            <a:avLst/>
          </a:prstGeom>
        </p:spPr>
      </p:pic>
      <p:sp>
        <p:nvSpPr>
          <p:cNvPr id="122" name="Shape 75">
            <a:extLst>
              <a:ext uri="{FF2B5EF4-FFF2-40B4-BE49-F238E27FC236}">
                <a16:creationId xmlns:a16="http://schemas.microsoft.com/office/drawing/2014/main" id="{902A062F-6F3C-0CE2-3EF6-29522645DB2E}"/>
              </a:ext>
            </a:extLst>
          </p:cNvPr>
          <p:cNvSpPr>
            <a:spLocks noGrp="1"/>
          </p:cNvSpPr>
          <p:nvPr/>
        </p:nvSpPr>
        <p:spPr>
          <a:xfrm>
            <a:off x="27508200" y="4714021"/>
            <a:ext cx="12862560" cy="502920"/>
          </a:xfrm>
          <a:prstGeom prst="rect">
            <a:avLst/>
          </a:prstGeom>
          <a:solidFill>
            <a:srgbClr val="D39C2D"/>
          </a:solidFill>
          <a:ln w="12700">
            <a:solidFill>
              <a:srgbClr val="D39C2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Text 76">
            <a:extLst>
              <a:ext uri="{FF2B5EF4-FFF2-40B4-BE49-F238E27FC236}">
                <a16:creationId xmlns:a16="http://schemas.microsoft.com/office/drawing/2014/main" id="{BA464B5B-3B47-8DC9-1C33-1D1F81B157EE}"/>
              </a:ext>
            </a:extLst>
          </p:cNvPr>
          <p:cNvSpPr>
            <a:spLocks noGrp="1"/>
          </p:cNvSpPr>
          <p:nvPr/>
        </p:nvSpPr>
        <p:spPr>
          <a:xfrm>
            <a:off x="27709368" y="4778029"/>
            <a:ext cx="12460224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Main Results &amp; Takeaway (Cont’d)</a:t>
            </a:r>
          </a:p>
        </p:txBody>
      </p:sp>
      <p:sp>
        <p:nvSpPr>
          <p:cNvPr id="124" name="Shape 83">
            <a:extLst>
              <a:ext uri="{FF2B5EF4-FFF2-40B4-BE49-F238E27FC236}">
                <a16:creationId xmlns:a16="http://schemas.microsoft.com/office/drawing/2014/main" id="{8B0D2B54-F6B7-5B50-ECF1-61F0B555625E}"/>
              </a:ext>
            </a:extLst>
          </p:cNvPr>
          <p:cNvSpPr>
            <a:spLocks noGrp="1"/>
          </p:cNvSpPr>
          <p:nvPr/>
        </p:nvSpPr>
        <p:spPr>
          <a:xfrm>
            <a:off x="14142720" y="21387816"/>
            <a:ext cx="12862560" cy="9030114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CAD2D9"/>
            </a:solidFill>
            <a:prstDash val="solid"/>
          </a:ln>
          <a:effectLst>
            <a:outerShdw blurRad="12700" dist="50800" dir="2700000" algn="bl" rotWithShape="0">
              <a:srgbClr val="B9C1CA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25" name="Text 84">
            <a:extLst>
              <a:ext uri="{FF2B5EF4-FFF2-40B4-BE49-F238E27FC236}">
                <a16:creationId xmlns:a16="http://schemas.microsoft.com/office/drawing/2014/main" id="{26D1F150-60EC-FB91-54FB-CDF56783AD75}"/>
              </a:ext>
            </a:extLst>
          </p:cNvPr>
          <p:cNvSpPr>
            <a:spLocks noGrp="1"/>
          </p:cNvSpPr>
          <p:nvPr/>
        </p:nvSpPr>
        <p:spPr>
          <a:xfrm>
            <a:off x="14398752" y="21749004"/>
            <a:ext cx="12350496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2200" b="1" dirty="0">
                <a:solidFill>
                  <a:srgbClr val="D39C2D"/>
                </a:solidFill>
                <a:latin typeface="Aptos"/>
                <a:ea typeface="Aptos"/>
                <a:cs typeface="Aptos"/>
              </a:rPr>
              <a:t>Expanded-Adjustment Condition Associations with AUD</a:t>
            </a:r>
          </a:p>
        </p:txBody>
      </p:sp>
      <p:pic>
        <p:nvPicPr>
          <p:cNvPr id="190" name="图片 1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95014" y="6449610"/>
            <a:ext cx="10488932" cy="8105620"/>
          </a:xfrm>
          <a:prstGeom prst="rect">
            <a:avLst/>
          </a:prstGeom>
        </p:spPr>
      </p:pic>
      <p:pic>
        <p:nvPicPr>
          <p:cNvPr id="191" name="图片 1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90488" y="18490825"/>
            <a:ext cx="6103407" cy="4825133"/>
          </a:xfrm>
          <a:prstGeom prst="rect">
            <a:avLst/>
          </a:prstGeom>
        </p:spPr>
      </p:pic>
      <p:pic>
        <p:nvPicPr>
          <p:cNvPr id="192" name="图片 1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20615" y="18473854"/>
            <a:ext cx="6061268" cy="4825133"/>
          </a:xfrm>
          <a:prstGeom prst="rect">
            <a:avLst/>
          </a:prstGeom>
        </p:spPr>
      </p:pic>
      <p:pic>
        <p:nvPicPr>
          <p:cNvPr id="193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36596" y="31208738"/>
            <a:ext cx="2589230" cy="667810"/>
          </a:xfrm>
          <a:prstGeom prst="rect">
            <a:avLst/>
          </a:prstGeom>
        </p:spPr>
      </p:pic>
      <p:pic>
        <p:nvPicPr>
          <p:cNvPr id="194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36596" y="32142046"/>
            <a:ext cx="2559939" cy="673668"/>
          </a:xfrm>
          <a:prstGeom prst="rect">
            <a:avLst/>
          </a:prstGeom>
        </p:spPr>
      </p:pic>
      <p:pic>
        <p:nvPicPr>
          <p:cNvPr id="195" name="图片 194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34080450" y="30984555"/>
            <a:ext cx="1866900" cy="18669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A0B33E7-F59A-DB21-92B9-A7FD6E5B82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324" y="16036627"/>
            <a:ext cx="11604392" cy="55120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98CCAE6-C9BC-9102-A110-A4D1702B3B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42720" y="24353545"/>
            <a:ext cx="6654800" cy="45042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0CB003D-7156-18D3-F323-130FB98BF5A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053552" y="24144616"/>
            <a:ext cx="5869382" cy="492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1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637</Words>
  <Application>Microsoft Office PowerPoint</Application>
  <DocSecurity>0</DocSecurity>
  <PresentationFormat>自定义</PresentationFormat>
  <Paragraphs>50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Aptos</vt:lpstr>
      <vt:lpstr>Aptos Display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Jerry Liu</cp:lastModifiedBy>
  <cp:revision>2</cp:revision>
  <dcterms:created xsi:type="dcterms:W3CDTF">2026-06-17T09:43:53Z</dcterms:created>
  <dcterms:modified xsi:type="dcterms:W3CDTF">2026-06-17T20:28:10Z</dcterms:modified>
</cp:coreProperties>
</file>