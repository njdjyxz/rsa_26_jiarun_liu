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
  </p:notesMasterIdLst>
  <p:sldIdLst>
    <p:sldId id="256" r:id="rId2"/>
  </p:sldIdLst>
  <p:sldSz cx="41148000" cy="329184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p:restoredLeft sz="6510" autoAdjust="0"/>
    <p:restoredTop sz="95676" autoAdjust="0"/>
  </p:normalViewPr>
  <p:slideViewPr>
    <p:cSldViewPr snapToGrid="0">
      <p:cViewPr varScale="1">
        <p:scale>
          <a:sx n="36" d="100"/>
          <a:sy n="36" d="100"/>
        </p:scale>
        <p:origin x="394"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Method， cohort build </a:t>
            </a:r>
            <a:endParaRPr lang="en-US" dirty="0"/>
          </a:p>
          <a:p>
            <a:r>
              <a:rPr lang="en-US" dirty="0"/>
              <a:t>Title to 80</a:t>
            </a:r>
          </a:p>
          <a:p>
            <a:r>
              <a:rPr lang="en-US" dirty="0"/>
              <a:t>Abstract to bullet point </a:t>
            </a:r>
          </a:p>
          <a:p>
            <a:r>
              <a:rPr lang="en-US" dirty="0"/>
              <a:t>Text size to 28</a:t>
            </a:r>
          </a:p>
          <a:p>
            <a:r>
              <a:rPr lang="en-US" dirty="0"/>
              <a:t>Check </a:t>
            </a:r>
            <a:r>
              <a:rPr lang="en-US"/>
              <a:t>figure size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a:spcBef>
          <a:spcPts val="0"/>
        </a:spcBef>
        <a:buNone/>
        <a:defRPr sz="4400">
          <a:solidFill>
            <a:schemeClr val="tx1"/>
          </a:solidFill>
          <a:latin typeface="+mj-lt"/>
          <a:ea typeface="+mj-lt"/>
          <a:cs typeface="+mj-lt"/>
        </a:defRPr>
      </a:lvl1pPr>
    </p:titleStyle>
    <p:bodyStyle>
      <a:lvl1pPr marL="342900" indent="-342900" algn="l">
        <a:spcBef>
          <a:spcPts val="0"/>
        </a:spcBef>
        <a:buChar char="•"/>
        <a:defRPr sz="3200">
          <a:solidFill>
            <a:schemeClr val="tx1"/>
          </a:solidFill>
          <a:latin typeface="+mn-lt"/>
          <a:ea typeface="+mn-lt"/>
          <a:cs typeface="+mn-lt"/>
        </a:defRPr>
      </a:lvl1pPr>
      <a:lvl2pPr marL="742950" indent="-285750" algn="l">
        <a:spcBef>
          <a:spcPts val="0"/>
        </a:spcBef>
        <a:buChar char="–"/>
        <a:defRPr sz="2800">
          <a:solidFill>
            <a:schemeClr val="tx1"/>
          </a:solidFill>
          <a:latin typeface="+mn-lt"/>
          <a:ea typeface="+mn-lt"/>
          <a:cs typeface="+mn-lt"/>
        </a:defRPr>
      </a:lvl2pPr>
      <a:lvl3pPr marL="1143000" indent="-228600" algn="l">
        <a:spcBef>
          <a:spcPts val="0"/>
        </a:spcBef>
        <a:buChar char="•"/>
        <a:defRPr sz="2400">
          <a:solidFill>
            <a:schemeClr val="tx1"/>
          </a:solidFill>
          <a:latin typeface="+mn-lt"/>
          <a:ea typeface="+mn-lt"/>
          <a:cs typeface="+mn-lt"/>
        </a:defRPr>
      </a:lvl3pPr>
      <a:lvl4pPr marL="1600200" indent="-228600" algn="l">
        <a:spcBef>
          <a:spcPts val="0"/>
        </a:spcBef>
        <a:buChar char="–"/>
        <a:defRPr sz="2000">
          <a:solidFill>
            <a:schemeClr val="tx1"/>
          </a:solidFill>
          <a:latin typeface="+mn-lt"/>
          <a:ea typeface="+mn-lt"/>
          <a:cs typeface="+mn-lt"/>
        </a:defRPr>
      </a:lvl4pPr>
      <a:lvl5pPr marL="2057400" indent="-228600" algn="l">
        <a:spcBef>
          <a:spcPts val="0"/>
        </a:spcBef>
        <a:buChar char="»"/>
        <a:defRPr sz="2000">
          <a:solidFill>
            <a:schemeClr val="tx1"/>
          </a:solidFill>
          <a:latin typeface="+mn-lt"/>
          <a:ea typeface="+mn-lt"/>
          <a:cs typeface="+mn-lt"/>
        </a:defRPr>
      </a:lvl5pPr>
      <a:lvl6pPr marL="2514600" indent="-228600" algn="l">
        <a:spcBef>
          <a:spcPts val="0"/>
        </a:spcBef>
        <a:buChar char="•"/>
        <a:defRPr sz="2000">
          <a:solidFill>
            <a:schemeClr val="tx1"/>
          </a:solidFill>
          <a:latin typeface="+mn-lt"/>
          <a:ea typeface="+mn-lt"/>
          <a:cs typeface="+mn-lt"/>
        </a:defRPr>
      </a:lvl6pPr>
      <a:lvl7pPr marL="2971800" indent="-228600" algn="l">
        <a:spcBef>
          <a:spcPts val="0"/>
        </a:spcBef>
        <a:buChar char="•"/>
        <a:defRPr sz="2000">
          <a:solidFill>
            <a:schemeClr val="tx1"/>
          </a:solidFill>
          <a:latin typeface="+mn-lt"/>
          <a:ea typeface="+mn-lt"/>
          <a:cs typeface="+mn-lt"/>
        </a:defRPr>
      </a:lvl7pPr>
      <a:lvl8pPr marL="3429000" indent="-228600" algn="l">
        <a:spcBef>
          <a:spcPts val="0"/>
        </a:spcBef>
        <a:buChar char="•"/>
        <a:defRPr sz="2000">
          <a:solidFill>
            <a:schemeClr val="tx1"/>
          </a:solidFill>
          <a:latin typeface="+mn-lt"/>
          <a:ea typeface="+mn-lt"/>
          <a:cs typeface="+mn-lt"/>
        </a:defRPr>
      </a:lvl8pPr>
      <a:lvl9pPr marL="3886200" indent="-228600" algn="l">
        <a:spcBef>
          <a:spcPts val="0"/>
        </a:spcBef>
        <a:buChar char="•"/>
        <a:defRPr sz="20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sv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6" Type="http://schemas.openxmlformats.org/officeDocument/2006/relationships/image" Target="../media/image14.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jpeg"/><Relationship Id="rId4" Type="http://schemas.openxmlformats.org/officeDocument/2006/relationships/image" Target="../media/image2.svg"/><Relationship Id="rId9" Type="http://schemas.openxmlformats.org/officeDocument/2006/relationships/image" Target="../media/image7.jpeg"/><Relationship Id="rId1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E03D32-448D-48D6-9F74-CBD4FE1889A8}"/>
              </a:ext>
            </a:extLst>
          </p:cNvPr>
          <p:cNvSpPr>
            <a:spLocks noGrp="1" noRot="1" noMove="1" noResize="1" noEditPoints="1" noAdjustHandles="1" noChangeArrowheads="1" noChangeShapeType="1"/>
          </p:cNvSpPr>
          <p:nvPr/>
        </p:nvSpPr>
        <p:spPr>
          <a:xfrm>
            <a:off x="0" y="0"/>
            <a:ext cx="41148000" cy="4251960"/>
          </a:xfrm>
          <a:prstGeom prst="rect">
            <a:avLst/>
          </a:prstGeom>
          <a:solidFill>
            <a:srgbClr val="102A43"/>
          </a:solidFill>
          <a:ln w="12700">
            <a:solidFill>
              <a:srgbClr val="102A43"/>
            </a:solidFill>
            <a:prstDash val="solid"/>
          </a:ln>
        </p:spPr>
        <p:txBody>
          <a:bodyPr/>
          <a:lstStyle/>
          <a:p>
            <a:endParaRPr dirty="0"/>
          </a:p>
        </p:txBody>
      </p:sp>
      <p:sp>
        <p:nvSpPr>
          <p:cNvPr id="3" name="Shape 1">
            <a:extLst>
              <a:ext uri="{FF2B5EF4-FFF2-40B4-BE49-F238E27FC236}">
                <a16:creationId xmlns:a16="http://schemas.microsoft.com/office/drawing/2014/main" id="{311199EE-851D-480A-82EE-30FE3F8398CF}"/>
              </a:ext>
            </a:extLst>
          </p:cNvPr>
          <p:cNvSpPr>
            <a:spLocks noGrp="1" noRot="1" noMove="1" noResize="1" noEditPoints="1" noAdjustHandles="1" noChangeArrowheads="1" noChangeShapeType="1"/>
          </p:cNvSpPr>
          <p:nvPr/>
        </p:nvSpPr>
        <p:spPr>
          <a:xfrm>
            <a:off x="0" y="4069080"/>
            <a:ext cx="41148000" cy="182880"/>
          </a:xfrm>
          <a:prstGeom prst="rect">
            <a:avLst/>
          </a:prstGeom>
          <a:solidFill>
            <a:srgbClr val="D39C2D"/>
          </a:solidFill>
          <a:ln w="12700">
            <a:solidFill>
              <a:srgbClr val="D39C2D"/>
            </a:solidFill>
            <a:prstDash val="solid"/>
          </a:ln>
        </p:spPr>
        <p:txBody>
          <a:bodyPr/>
          <a:lstStyle/>
          <a:p>
            <a:endParaRPr/>
          </a:p>
        </p:txBody>
      </p:sp>
      <p:sp>
        <p:nvSpPr>
          <p:cNvPr id="4" name="Text 2">
            <a:extLst>
              <a:ext uri="{FF2B5EF4-FFF2-40B4-BE49-F238E27FC236}">
                <a16:creationId xmlns:a16="http://schemas.microsoft.com/office/drawing/2014/main" id="{0A05EC09-12B5-43B7-A3F6-E89A469EC71B}"/>
              </a:ext>
            </a:extLst>
          </p:cNvPr>
          <p:cNvSpPr>
            <a:spLocks noGrp="1"/>
          </p:cNvSpPr>
          <p:nvPr/>
        </p:nvSpPr>
        <p:spPr>
          <a:xfrm>
            <a:off x="868680" y="259888"/>
            <a:ext cx="37458351" cy="2322614"/>
          </a:xfrm>
          <a:prstGeom prst="rect">
            <a:avLst/>
          </a:prstGeom>
          <a:noFill/>
        </p:spPr>
        <p:txBody>
          <a:bodyPr wrap="square" lIns="0" tIns="0" rIns="0" bIns="0" anchor="t">
            <a:noAutofit/>
          </a:bodyPr>
          <a:lstStyle/>
          <a:p>
            <a:pPr marL="0" indent="0" algn="l">
              <a:buNone/>
            </a:pPr>
            <a:r>
              <a:rPr sz="8000" b="1" dirty="0">
                <a:solidFill>
                  <a:srgbClr val="FFFFFF"/>
                </a:solidFill>
                <a:latin typeface="Aptos Display"/>
                <a:ea typeface="Aptos Display"/>
                <a:cs typeface="Aptos Display"/>
              </a:rPr>
              <a:t>Clinical and Behavioral Factors Associated with Alcohol Use Disorder</a:t>
            </a:r>
            <a:r>
              <a:rPr sz="8000" dirty="0"/>
              <a:t> </a:t>
            </a:r>
            <a:r>
              <a:rPr sz="8000" b="1" dirty="0">
                <a:solidFill>
                  <a:srgbClr val="FFFFFF"/>
                </a:solidFill>
                <a:latin typeface="Aptos Display"/>
                <a:ea typeface="Aptos Display"/>
                <a:cs typeface="Aptos Display"/>
              </a:rPr>
              <a:t>in the All of Us Research Program</a:t>
            </a:r>
          </a:p>
        </p:txBody>
      </p:sp>
      <p:sp>
        <p:nvSpPr>
          <p:cNvPr id="5" name="Text 3">
            <a:extLst>
              <a:ext uri="{FF2B5EF4-FFF2-40B4-BE49-F238E27FC236}">
                <a16:creationId xmlns:a16="http://schemas.microsoft.com/office/drawing/2014/main" id="{F5BBBA4F-2B93-42F7-8A22-7A3953C8CA14}"/>
              </a:ext>
            </a:extLst>
          </p:cNvPr>
          <p:cNvSpPr>
            <a:spLocks noGrp="1"/>
          </p:cNvSpPr>
          <p:nvPr/>
        </p:nvSpPr>
        <p:spPr>
          <a:xfrm>
            <a:off x="868680" y="2987911"/>
            <a:ext cx="32004000" cy="438912"/>
          </a:xfrm>
          <a:prstGeom prst="rect">
            <a:avLst/>
          </a:prstGeom>
          <a:noFill/>
        </p:spPr>
        <p:txBody>
          <a:bodyPr wrap="square" lIns="0" tIns="0" rIns="0" bIns="0" anchor="t">
            <a:normAutofit/>
          </a:bodyPr>
          <a:lstStyle/>
          <a:p>
            <a:pPr marL="0" indent="0" algn="l">
              <a:buNone/>
            </a:pPr>
            <a:r>
              <a:rPr sz="2800" b="1" u="sng" dirty="0">
                <a:solidFill>
                  <a:srgbClr val="E6EDF3"/>
                </a:solidFill>
                <a:latin typeface="Aptos"/>
                <a:ea typeface="Aptos"/>
                <a:cs typeface="Aptos"/>
              </a:rPr>
              <a:t>Jiarun Liu</a:t>
            </a:r>
            <a:r>
              <a:rPr sz="2800" dirty="0">
                <a:solidFill>
                  <a:srgbClr val="E6EDF3"/>
                </a:solidFill>
                <a:latin typeface="Aptos"/>
                <a:ea typeface="Aptos"/>
                <a:cs typeface="Aptos"/>
              </a:rPr>
              <a:t>, Stanislav Listopad, Qian Peng  |  UCSD, Scripps Research  |  RSA 2026  |  Poster # S12</a:t>
            </a:r>
          </a:p>
        </p:txBody>
      </p:sp>
      <p:sp>
        <p:nvSpPr>
          <p:cNvPr id="6" name="Text 4">
            <a:extLst>
              <a:ext uri="{FF2B5EF4-FFF2-40B4-BE49-F238E27FC236}">
                <a16:creationId xmlns:a16="http://schemas.microsoft.com/office/drawing/2014/main" id="{EBEE8B62-79FB-4A91-AB7F-694B0E549E0E}"/>
              </a:ext>
            </a:extLst>
          </p:cNvPr>
          <p:cNvSpPr>
            <a:spLocks noGrp="1"/>
          </p:cNvSpPr>
          <p:nvPr/>
        </p:nvSpPr>
        <p:spPr>
          <a:xfrm>
            <a:off x="868680" y="3552733"/>
            <a:ext cx="32735520" cy="676656"/>
          </a:xfrm>
          <a:prstGeom prst="rect">
            <a:avLst/>
          </a:prstGeom>
          <a:noFill/>
        </p:spPr>
        <p:txBody>
          <a:bodyPr wrap="square" lIns="0" tIns="0" rIns="0" bIns="0" anchor="t">
            <a:normAutofit/>
          </a:bodyPr>
          <a:lstStyle/>
          <a:p>
            <a:pPr marL="0" indent="0" algn="l">
              <a:buNone/>
            </a:pPr>
            <a:r>
              <a:rPr sz="2800" b="1" dirty="0">
                <a:solidFill>
                  <a:srgbClr val="FFF3D5"/>
                </a:solidFill>
                <a:latin typeface="Aptos"/>
                <a:ea typeface="Aptos"/>
                <a:cs typeface="Aptos"/>
              </a:rPr>
              <a:t>Keywords: AUD risk and comorbidity, All Of Us, Electronic Health Record (EHR)</a:t>
            </a:r>
          </a:p>
        </p:txBody>
      </p:sp>
      <p:sp>
        <p:nvSpPr>
          <p:cNvPr id="16" name="Shape 14">
            <a:extLst>
              <a:ext uri="{FF2B5EF4-FFF2-40B4-BE49-F238E27FC236}">
                <a16:creationId xmlns:a16="http://schemas.microsoft.com/office/drawing/2014/main" id="{03997F32-4728-4796-8EEF-B67C2A47A239}"/>
              </a:ext>
            </a:extLst>
          </p:cNvPr>
          <p:cNvSpPr>
            <a:spLocks noGrp="1"/>
          </p:cNvSpPr>
          <p:nvPr/>
        </p:nvSpPr>
        <p:spPr>
          <a:xfrm>
            <a:off x="777240" y="4411301"/>
            <a:ext cx="12862560" cy="800778"/>
          </a:xfrm>
          <a:prstGeom prst="rect">
            <a:avLst/>
          </a:prstGeom>
          <a:solidFill>
            <a:srgbClr val="0F766E"/>
          </a:solidFill>
          <a:ln w="12700">
            <a:solidFill>
              <a:srgbClr val="0F766E">
                <a:alpha val="0"/>
              </a:srgbClr>
            </a:solidFill>
            <a:prstDash val="solid"/>
          </a:ln>
        </p:spPr>
        <p:txBody>
          <a:bodyPr/>
          <a:lstStyle/>
          <a:p>
            <a:endParaRPr dirty="0"/>
          </a:p>
        </p:txBody>
      </p:sp>
      <p:sp>
        <p:nvSpPr>
          <p:cNvPr id="17" name="Text 15">
            <a:extLst>
              <a:ext uri="{FF2B5EF4-FFF2-40B4-BE49-F238E27FC236}">
                <a16:creationId xmlns:a16="http://schemas.microsoft.com/office/drawing/2014/main" id="{D6756EF6-58F4-40B9-9183-F01084EA0528}"/>
              </a:ext>
            </a:extLst>
          </p:cNvPr>
          <p:cNvSpPr>
            <a:spLocks noGrp="1"/>
          </p:cNvSpPr>
          <p:nvPr/>
        </p:nvSpPr>
        <p:spPr>
          <a:xfrm>
            <a:off x="923544" y="4501828"/>
            <a:ext cx="12460224" cy="800777"/>
          </a:xfrm>
          <a:prstGeom prst="rect">
            <a:avLst/>
          </a:prstGeom>
          <a:noFill/>
        </p:spPr>
        <p:txBody>
          <a:bodyPr wrap="square" lIns="0" tIns="0" rIns="0" bIns="0" anchor="t">
            <a:noAutofit/>
          </a:bodyPr>
          <a:lstStyle/>
          <a:p>
            <a:pPr marL="0" indent="0" algn="l">
              <a:buNone/>
            </a:pPr>
            <a:r>
              <a:rPr sz="4000" b="1" dirty="0">
                <a:solidFill>
                  <a:srgbClr val="FFFFFF"/>
                </a:solidFill>
                <a:latin typeface="Aptos"/>
                <a:ea typeface="Aptos"/>
                <a:cs typeface="Aptos"/>
              </a:rPr>
              <a:t>1. </a:t>
            </a:r>
            <a:r>
              <a:rPr lang="en-US" sz="4000" b="1" dirty="0">
                <a:solidFill>
                  <a:srgbClr val="FFFFFF"/>
                </a:solidFill>
                <a:latin typeface="Aptos"/>
                <a:ea typeface="Aptos"/>
                <a:cs typeface="Aptos"/>
              </a:rPr>
              <a:t>Introduction</a:t>
            </a:r>
            <a:r>
              <a:rPr sz="4000" b="1" dirty="0">
                <a:solidFill>
                  <a:srgbClr val="FFFFFF"/>
                </a:solidFill>
                <a:latin typeface="Aptos"/>
                <a:ea typeface="Aptos"/>
                <a:cs typeface="Aptos"/>
              </a:rPr>
              <a:t>, Workflow &amp; Study Design</a:t>
            </a:r>
          </a:p>
        </p:txBody>
      </p:sp>
      <p:sp>
        <p:nvSpPr>
          <p:cNvPr id="18" name="Shape 16">
            <a:extLst>
              <a:ext uri="{FF2B5EF4-FFF2-40B4-BE49-F238E27FC236}">
                <a16:creationId xmlns:a16="http://schemas.microsoft.com/office/drawing/2014/main" id="{A9807597-EFF3-4924-8017-201525FCE507}"/>
              </a:ext>
            </a:extLst>
          </p:cNvPr>
          <p:cNvSpPr>
            <a:spLocks noGrp="1"/>
          </p:cNvSpPr>
          <p:nvPr/>
        </p:nvSpPr>
        <p:spPr>
          <a:xfrm>
            <a:off x="777240" y="5394960"/>
            <a:ext cx="12862560" cy="1645920"/>
          </a:xfrm>
          <a:prstGeom prst="roundRect">
            <a:avLst>
              <a:gd name="adj" fmla="val 4762"/>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19" name="Text 17">
            <a:extLst>
              <a:ext uri="{FF2B5EF4-FFF2-40B4-BE49-F238E27FC236}">
                <a16:creationId xmlns:a16="http://schemas.microsoft.com/office/drawing/2014/main" id="{6B763FC3-D9C1-4DFD-8474-C4FB46CF6D5B}"/>
              </a:ext>
            </a:extLst>
          </p:cNvPr>
          <p:cNvSpPr>
            <a:spLocks noGrp="1"/>
          </p:cNvSpPr>
          <p:nvPr/>
        </p:nvSpPr>
        <p:spPr>
          <a:xfrm>
            <a:off x="1033272" y="5467302"/>
            <a:ext cx="12350496" cy="320040"/>
          </a:xfrm>
          <a:prstGeom prst="rect">
            <a:avLst/>
          </a:prstGeom>
          <a:noFill/>
        </p:spPr>
        <p:txBody>
          <a:bodyPr wrap="square" lIns="0" tIns="0" rIns="0" bIns="0" anchor="t">
            <a:noAutofit/>
          </a:bodyPr>
          <a:lstStyle/>
          <a:p>
            <a:pPr marL="0" indent="0" algn="l">
              <a:buNone/>
            </a:pPr>
            <a:r>
              <a:rPr sz="2800" b="1" dirty="0">
                <a:solidFill>
                  <a:srgbClr val="0F766E"/>
                </a:solidFill>
                <a:latin typeface="Aptos"/>
                <a:ea typeface="Aptos"/>
                <a:cs typeface="Aptos"/>
              </a:rPr>
              <a:t>Study question</a:t>
            </a:r>
          </a:p>
        </p:txBody>
      </p:sp>
      <p:sp>
        <p:nvSpPr>
          <p:cNvPr id="20" name="Text 18">
            <a:extLst>
              <a:ext uri="{FF2B5EF4-FFF2-40B4-BE49-F238E27FC236}">
                <a16:creationId xmlns:a16="http://schemas.microsoft.com/office/drawing/2014/main" id="{506B0043-433A-4984-9631-61414C443B2B}"/>
              </a:ext>
            </a:extLst>
          </p:cNvPr>
          <p:cNvSpPr>
            <a:spLocks noGrp="1"/>
          </p:cNvSpPr>
          <p:nvPr/>
        </p:nvSpPr>
        <p:spPr>
          <a:xfrm>
            <a:off x="1097280" y="5934456"/>
            <a:ext cx="12222480" cy="932688"/>
          </a:xfrm>
          <a:prstGeom prst="rect">
            <a:avLst/>
          </a:prstGeom>
          <a:noFill/>
        </p:spPr>
        <p:txBody>
          <a:bodyPr wrap="square" lIns="762" tIns="762" rIns="762" bIns="762" anchor="t">
            <a:normAutofit/>
          </a:bodyPr>
          <a:lstStyle/>
          <a:p>
            <a:pPr marL="0" indent="0" algn="l">
              <a:buNone/>
            </a:pPr>
            <a:r>
              <a:rPr sz="2800" b="1" dirty="0">
                <a:solidFill>
                  <a:srgbClr val="17212B"/>
                </a:solidFill>
                <a:latin typeface="Aptos"/>
                <a:ea typeface="Aptos"/>
                <a:cs typeface="Aptos"/>
              </a:rPr>
              <a:t>Which clinical conditions are associated with AUD after adjusting for demographic, behavioral, socioeconomic, and family-history factors?</a:t>
            </a:r>
          </a:p>
        </p:txBody>
      </p:sp>
      <p:sp>
        <p:nvSpPr>
          <p:cNvPr id="22" name="Shape 20">
            <a:extLst>
              <a:ext uri="{FF2B5EF4-FFF2-40B4-BE49-F238E27FC236}">
                <a16:creationId xmlns:a16="http://schemas.microsoft.com/office/drawing/2014/main" id="{C18B3100-4A97-4FB4-806A-A4BA09933488}"/>
              </a:ext>
            </a:extLst>
          </p:cNvPr>
          <p:cNvSpPr>
            <a:spLocks noGrp="1"/>
          </p:cNvSpPr>
          <p:nvPr/>
        </p:nvSpPr>
        <p:spPr>
          <a:xfrm>
            <a:off x="777240" y="7315199"/>
            <a:ext cx="12862560" cy="7027627"/>
          </a:xfrm>
          <a:prstGeom prst="roundRect">
            <a:avLst>
              <a:gd name="adj" fmla="val 2041"/>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23" name="Text 21">
            <a:extLst>
              <a:ext uri="{FF2B5EF4-FFF2-40B4-BE49-F238E27FC236}">
                <a16:creationId xmlns:a16="http://schemas.microsoft.com/office/drawing/2014/main" id="{B9CDAEA8-058C-4E41-9504-083051C984B4}"/>
              </a:ext>
            </a:extLst>
          </p:cNvPr>
          <p:cNvSpPr>
            <a:spLocks noGrp="1"/>
          </p:cNvSpPr>
          <p:nvPr/>
        </p:nvSpPr>
        <p:spPr>
          <a:xfrm>
            <a:off x="1033272" y="7483900"/>
            <a:ext cx="12350496" cy="503383"/>
          </a:xfrm>
          <a:prstGeom prst="rect">
            <a:avLst/>
          </a:prstGeom>
          <a:noFill/>
        </p:spPr>
        <p:txBody>
          <a:bodyPr wrap="square" lIns="0" tIns="0" rIns="0" bIns="0" anchor="t">
            <a:noAutofit/>
          </a:bodyPr>
          <a:lstStyle/>
          <a:p>
            <a:pPr marL="0" indent="0" algn="l">
              <a:buNone/>
            </a:pPr>
            <a:r>
              <a:rPr lang="en-US" sz="2800" b="1" dirty="0">
                <a:solidFill>
                  <a:srgbClr val="0F766E"/>
                </a:solidFill>
                <a:latin typeface="Aptos"/>
                <a:ea typeface="Aptos"/>
                <a:cs typeface="Aptos"/>
              </a:rPr>
              <a:t>Introduction</a:t>
            </a:r>
            <a:endParaRPr sz="2800" b="1" dirty="0">
              <a:solidFill>
                <a:srgbClr val="0F766E"/>
              </a:solidFill>
              <a:latin typeface="Aptos"/>
              <a:ea typeface="Aptos"/>
              <a:cs typeface="Aptos"/>
            </a:endParaRPr>
          </a:p>
        </p:txBody>
      </p:sp>
      <p:sp>
        <p:nvSpPr>
          <p:cNvPr id="25" name="Text 23">
            <a:extLst>
              <a:ext uri="{FF2B5EF4-FFF2-40B4-BE49-F238E27FC236}">
                <a16:creationId xmlns:a16="http://schemas.microsoft.com/office/drawing/2014/main" id="{A0AE3220-DA14-4250-BDEC-3C6017BE620D}"/>
              </a:ext>
            </a:extLst>
          </p:cNvPr>
          <p:cNvSpPr>
            <a:spLocks noGrp="1"/>
          </p:cNvSpPr>
          <p:nvPr/>
        </p:nvSpPr>
        <p:spPr>
          <a:xfrm>
            <a:off x="1325880" y="9185148"/>
            <a:ext cx="2880360" cy="201168"/>
          </a:xfrm>
          <a:prstGeom prst="rect">
            <a:avLst/>
          </a:prstGeom>
          <a:noFill/>
        </p:spPr>
        <p:txBody>
          <a:bodyPr wrap="square" lIns="0" tIns="0" rIns="0" bIns="0" anchor="t">
            <a:normAutofit/>
          </a:bodyPr>
          <a:lstStyle/>
          <a:p>
            <a:pPr marL="0" indent="0" algn="ctr">
              <a:buNone/>
            </a:pPr>
            <a:r>
              <a:rPr sz="1300" b="1">
                <a:solidFill>
                  <a:srgbClr val="FFFFFF"/>
                </a:solidFill>
                <a:latin typeface="Aptos"/>
                <a:ea typeface="Aptos"/>
                <a:cs typeface="Aptos"/>
              </a:rPr>
              <a:t>Survey-based analysis</a:t>
            </a:r>
          </a:p>
        </p:txBody>
      </p:sp>
      <p:sp>
        <p:nvSpPr>
          <p:cNvPr id="28" name="Text 26">
            <a:extLst>
              <a:ext uri="{FF2B5EF4-FFF2-40B4-BE49-F238E27FC236}">
                <a16:creationId xmlns:a16="http://schemas.microsoft.com/office/drawing/2014/main" id="{C9D9EC90-28BA-43C1-B64D-D4514263053F}"/>
              </a:ext>
            </a:extLst>
          </p:cNvPr>
          <p:cNvSpPr>
            <a:spLocks noGrp="1"/>
          </p:cNvSpPr>
          <p:nvPr/>
        </p:nvSpPr>
        <p:spPr>
          <a:xfrm>
            <a:off x="1325880" y="11215116"/>
            <a:ext cx="2880360" cy="201168"/>
          </a:xfrm>
          <a:prstGeom prst="rect">
            <a:avLst/>
          </a:prstGeom>
          <a:noFill/>
        </p:spPr>
        <p:txBody>
          <a:bodyPr wrap="square" lIns="0" tIns="0" rIns="0" bIns="0" anchor="t">
            <a:normAutofit/>
          </a:bodyPr>
          <a:lstStyle/>
          <a:p>
            <a:pPr marL="0" indent="0" algn="ctr">
              <a:buNone/>
            </a:pPr>
            <a:r>
              <a:rPr sz="1300" b="1">
                <a:solidFill>
                  <a:srgbClr val="FFFFFF"/>
                </a:solidFill>
                <a:latin typeface="Aptos"/>
                <a:ea typeface="Aptos"/>
                <a:cs typeface="Aptos"/>
              </a:rPr>
              <a:t>EHR-based analysis</a:t>
            </a:r>
          </a:p>
        </p:txBody>
      </p:sp>
      <p:sp>
        <p:nvSpPr>
          <p:cNvPr id="29" name="Text 27">
            <a:extLst>
              <a:ext uri="{FF2B5EF4-FFF2-40B4-BE49-F238E27FC236}">
                <a16:creationId xmlns:a16="http://schemas.microsoft.com/office/drawing/2014/main" id="{432395F6-982A-4AC3-A6D0-669D51311D48}"/>
              </a:ext>
            </a:extLst>
          </p:cNvPr>
          <p:cNvSpPr>
            <a:spLocks noGrp="1"/>
          </p:cNvSpPr>
          <p:nvPr/>
        </p:nvSpPr>
        <p:spPr>
          <a:xfrm>
            <a:off x="1097280" y="7987284"/>
            <a:ext cx="11856720" cy="5765292"/>
          </a:xfrm>
          <a:prstGeom prst="rect">
            <a:avLst/>
          </a:prstGeom>
          <a:noFill/>
        </p:spPr>
        <p:txBody>
          <a:bodyPr wrap="square" lIns="762" tIns="762" rIns="762" bIns="762" anchor="t">
            <a:noAutofit/>
          </a:bodyPr>
          <a:lstStyle/>
          <a:p>
            <a:pPr marL="285750" indent="-285750" algn="l">
              <a:lnSpc>
                <a:spcPct val="150000"/>
              </a:lnSpc>
              <a:buFont typeface="Arial" panose="020B0604020202020204" pitchFamily="34" charset="0"/>
              <a:buChar char="•"/>
            </a:pPr>
            <a:r>
              <a:rPr lang="en-US" sz="2400" dirty="0">
                <a:solidFill>
                  <a:srgbClr val="17212B"/>
                </a:solidFill>
                <a:latin typeface="Aptos"/>
                <a:ea typeface="Aptos"/>
                <a:cs typeface="Aptos"/>
              </a:rPr>
              <a:t>Alcohol use disorder (AUD) is clinically complex and may be associated with mental health, substance use, liver disease, family history, socioeconomic background, and other life-context factors.</a:t>
            </a:r>
          </a:p>
          <a:p>
            <a:pPr marL="285750" indent="-285750" algn="l">
              <a:lnSpc>
                <a:spcPct val="150000"/>
              </a:lnSpc>
              <a:buFont typeface="Arial" panose="020B0604020202020204" pitchFamily="34" charset="0"/>
              <a:buChar char="•"/>
            </a:pPr>
            <a:r>
              <a:rPr lang="en-US" sz="2400" dirty="0">
                <a:solidFill>
                  <a:srgbClr val="17212B"/>
                </a:solidFill>
                <a:latin typeface="Aptos"/>
                <a:ea typeface="Aptos"/>
                <a:cs typeface="Aptos"/>
              </a:rPr>
              <a:t>The All of Us Research Program links participant survey responses with electronic health record (EHR) data, enabling large-scale analysis of AUD-associated clinical patterns.</a:t>
            </a:r>
          </a:p>
          <a:p>
            <a:pPr marL="285750" indent="-285750" algn="l">
              <a:lnSpc>
                <a:spcPct val="150000"/>
              </a:lnSpc>
              <a:buFont typeface="Arial" panose="020B0604020202020204" pitchFamily="34" charset="0"/>
              <a:buChar char="•"/>
            </a:pPr>
            <a:r>
              <a:rPr lang="en-US" sz="2400" dirty="0">
                <a:solidFill>
                  <a:srgbClr val="17212B"/>
                </a:solidFill>
                <a:latin typeface="Aptos"/>
                <a:ea typeface="Aptos"/>
                <a:cs typeface="Aptos"/>
              </a:rPr>
              <a:t>Survey data provide participant-reported disease history and background covariates, while EHR data provide clinically documented diagnoses.</a:t>
            </a:r>
          </a:p>
          <a:p>
            <a:pPr marL="285750" indent="-285750" algn="l">
              <a:lnSpc>
                <a:spcPct val="150000"/>
              </a:lnSpc>
              <a:buFont typeface="Arial" panose="020B0604020202020204" pitchFamily="34" charset="0"/>
              <a:buChar char="•"/>
            </a:pPr>
            <a:r>
              <a:rPr lang="en-US" sz="2400" dirty="0">
                <a:solidFill>
                  <a:srgbClr val="17212B"/>
                </a:solidFill>
                <a:latin typeface="Aptos"/>
                <a:ea typeface="Aptos"/>
                <a:cs typeface="Aptos"/>
              </a:rPr>
              <a:t>This study used both survey-derived and EHR-derived AUD definitions to identify clinical conditions associated with AUD after covariate adjustment.</a:t>
            </a:r>
          </a:p>
          <a:p>
            <a:pPr marL="285750" indent="-285750" algn="l">
              <a:lnSpc>
                <a:spcPct val="150000"/>
              </a:lnSpc>
              <a:buFont typeface="Arial" panose="020B0604020202020204" pitchFamily="34" charset="0"/>
              <a:buChar char="•"/>
            </a:pPr>
            <a:r>
              <a:rPr lang="en-US" sz="2400" dirty="0">
                <a:solidFill>
                  <a:srgbClr val="17212B"/>
                </a:solidFill>
                <a:latin typeface="Aptos"/>
                <a:ea typeface="Aptos"/>
                <a:cs typeface="Aptos"/>
              </a:rPr>
              <a:t>The main goal was to compare whether similar AUD-associated clinical themes appear across survey and EHR data.</a:t>
            </a:r>
          </a:p>
        </p:txBody>
      </p:sp>
      <p:sp>
        <p:nvSpPr>
          <p:cNvPr id="31" name="Shape 29">
            <a:extLst>
              <a:ext uri="{FF2B5EF4-FFF2-40B4-BE49-F238E27FC236}">
                <a16:creationId xmlns:a16="http://schemas.microsoft.com/office/drawing/2014/main" id="{0F7BAEE8-2527-4EC9-9C70-A9BEB854D5A6}"/>
              </a:ext>
            </a:extLst>
          </p:cNvPr>
          <p:cNvSpPr>
            <a:spLocks noGrp="1"/>
          </p:cNvSpPr>
          <p:nvPr/>
        </p:nvSpPr>
        <p:spPr>
          <a:xfrm>
            <a:off x="777240" y="14625248"/>
            <a:ext cx="12862560" cy="7360919"/>
          </a:xfrm>
          <a:prstGeom prst="roundRect">
            <a:avLst>
              <a:gd name="adj" fmla="val 1639"/>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32" name="Text 30">
            <a:extLst>
              <a:ext uri="{FF2B5EF4-FFF2-40B4-BE49-F238E27FC236}">
                <a16:creationId xmlns:a16="http://schemas.microsoft.com/office/drawing/2014/main" id="{EFDC47A6-F696-479E-B145-06B73BD4ADB6}"/>
              </a:ext>
            </a:extLst>
          </p:cNvPr>
          <p:cNvSpPr>
            <a:spLocks noGrp="1"/>
          </p:cNvSpPr>
          <p:nvPr/>
        </p:nvSpPr>
        <p:spPr>
          <a:xfrm>
            <a:off x="1033272" y="14827356"/>
            <a:ext cx="12350496" cy="320040"/>
          </a:xfrm>
          <a:prstGeom prst="rect">
            <a:avLst/>
          </a:prstGeom>
          <a:noFill/>
        </p:spPr>
        <p:txBody>
          <a:bodyPr wrap="square" lIns="0" tIns="0" rIns="0" bIns="0" anchor="t">
            <a:noAutofit/>
          </a:bodyPr>
          <a:lstStyle/>
          <a:p>
            <a:pPr marL="0" indent="0" algn="l">
              <a:buNone/>
            </a:pPr>
            <a:r>
              <a:rPr sz="2800" b="1" dirty="0">
                <a:solidFill>
                  <a:srgbClr val="0F766E"/>
                </a:solidFill>
                <a:latin typeface="Aptos"/>
                <a:ea typeface="Aptos"/>
                <a:cs typeface="Aptos"/>
              </a:rPr>
              <a:t>Workflow</a:t>
            </a:r>
          </a:p>
        </p:txBody>
      </p:sp>
      <p:sp>
        <p:nvSpPr>
          <p:cNvPr id="36" name="Shape 34">
            <a:extLst>
              <a:ext uri="{FF2B5EF4-FFF2-40B4-BE49-F238E27FC236}">
                <a16:creationId xmlns:a16="http://schemas.microsoft.com/office/drawing/2014/main" id="{D6D14624-EE4D-4461-A673-E0A1728DEBD9}"/>
              </a:ext>
            </a:extLst>
          </p:cNvPr>
          <p:cNvSpPr>
            <a:spLocks noGrp="1"/>
          </p:cNvSpPr>
          <p:nvPr/>
        </p:nvSpPr>
        <p:spPr>
          <a:xfrm>
            <a:off x="777240" y="22318718"/>
            <a:ext cx="12862560" cy="8815015"/>
          </a:xfrm>
          <a:prstGeom prst="roundRect">
            <a:avLst>
              <a:gd name="adj" fmla="val 3191"/>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37" name="Text 35">
            <a:extLst>
              <a:ext uri="{FF2B5EF4-FFF2-40B4-BE49-F238E27FC236}">
                <a16:creationId xmlns:a16="http://schemas.microsoft.com/office/drawing/2014/main" id="{B417A13A-738C-4EDF-9014-44C2ADA56552}"/>
              </a:ext>
            </a:extLst>
          </p:cNvPr>
          <p:cNvSpPr>
            <a:spLocks noGrp="1"/>
          </p:cNvSpPr>
          <p:nvPr/>
        </p:nvSpPr>
        <p:spPr>
          <a:xfrm>
            <a:off x="1033272" y="22511891"/>
            <a:ext cx="12350496" cy="320040"/>
          </a:xfrm>
          <a:prstGeom prst="rect">
            <a:avLst/>
          </a:prstGeom>
          <a:noFill/>
        </p:spPr>
        <p:txBody>
          <a:bodyPr wrap="square" lIns="0" tIns="0" rIns="0" bIns="0" anchor="t">
            <a:noAutofit/>
          </a:bodyPr>
          <a:lstStyle/>
          <a:p>
            <a:pPr marL="0" indent="0" algn="l">
              <a:buNone/>
            </a:pPr>
            <a:r>
              <a:rPr sz="2800" b="1" dirty="0">
                <a:solidFill>
                  <a:srgbClr val="0F766E"/>
                </a:solidFill>
                <a:latin typeface="Aptos"/>
                <a:ea typeface="Aptos"/>
                <a:cs typeface="Aptos"/>
              </a:rPr>
              <a:t>Method</a:t>
            </a:r>
          </a:p>
        </p:txBody>
      </p:sp>
      <p:sp>
        <p:nvSpPr>
          <p:cNvPr id="42" name="Shape 40">
            <a:extLst>
              <a:ext uri="{FF2B5EF4-FFF2-40B4-BE49-F238E27FC236}">
                <a16:creationId xmlns:a16="http://schemas.microsoft.com/office/drawing/2014/main" id="{2D176F4B-3E65-439D-AC8A-2232F40A9BAE}"/>
              </a:ext>
            </a:extLst>
          </p:cNvPr>
          <p:cNvSpPr>
            <a:spLocks noGrp="1"/>
          </p:cNvSpPr>
          <p:nvPr/>
        </p:nvSpPr>
        <p:spPr>
          <a:xfrm>
            <a:off x="14142720" y="4411301"/>
            <a:ext cx="12862560" cy="800779"/>
          </a:xfrm>
          <a:prstGeom prst="rect">
            <a:avLst/>
          </a:prstGeom>
          <a:solidFill>
            <a:srgbClr val="16324F"/>
          </a:solidFill>
          <a:ln w="12700">
            <a:solidFill>
              <a:srgbClr val="16324F">
                <a:alpha val="0"/>
              </a:srgbClr>
            </a:solidFill>
            <a:prstDash val="solid"/>
          </a:ln>
        </p:spPr>
        <p:txBody>
          <a:bodyPr/>
          <a:lstStyle/>
          <a:p>
            <a:endParaRPr/>
          </a:p>
        </p:txBody>
      </p:sp>
      <p:sp>
        <p:nvSpPr>
          <p:cNvPr id="43" name="Text 41">
            <a:extLst>
              <a:ext uri="{FF2B5EF4-FFF2-40B4-BE49-F238E27FC236}">
                <a16:creationId xmlns:a16="http://schemas.microsoft.com/office/drawing/2014/main" id="{2D6FD00B-0D5F-4BBD-BCA6-76A2293A57B3}"/>
              </a:ext>
            </a:extLst>
          </p:cNvPr>
          <p:cNvSpPr>
            <a:spLocks noGrp="1"/>
          </p:cNvSpPr>
          <p:nvPr/>
        </p:nvSpPr>
        <p:spPr>
          <a:xfrm>
            <a:off x="14398752" y="4515237"/>
            <a:ext cx="12460224" cy="384048"/>
          </a:xfrm>
          <a:prstGeom prst="rect">
            <a:avLst/>
          </a:prstGeom>
          <a:noFill/>
        </p:spPr>
        <p:txBody>
          <a:bodyPr wrap="square" lIns="0" tIns="0" rIns="0" bIns="0" anchor="t">
            <a:noAutofit/>
          </a:bodyPr>
          <a:lstStyle/>
          <a:p>
            <a:pPr marL="0" indent="0" algn="l">
              <a:buNone/>
            </a:pPr>
            <a:r>
              <a:rPr sz="4000" b="1" dirty="0">
                <a:solidFill>
                  <a:srgbClr val="FFFFFF"/>
                </a:solidFill>
                <a:latin typeface="Aptos"/>
                <a:ea typeface="Aptos"/>
                <a:cs typeface="Aptos"/>
              </a:rPr>
              <a:t>2. Cohort &amp; Covariate Groups</a:t>
            </a:r>
          </a:p>
        </p:txBody>
      </p:sp>
      <p:sp>
        <p:nvSpPr>
          <p:cNvPr id="44" name="Shape 42">
            <a:extLst>
              <a:ext uri="{FF2B5EF4-FFF2-40B4-BE49-F238E27FC236}">
                <a16:creationId xmlns:a16="http://schemas.microsoft.com/office/drawing/2014/main" id="{F4FC8854-76B2-4AE3-AE32-649B0CF82C92}"/>
              </a:ext>
            </a:extLst>
          </p:cNvPr>
          <p:cNvSpPr>
            <a:spLocks noGrp="1"/>
          </p:cNvSpPr>
          <p:nvPr/>
        </p:nvSpPr>
        <p:spPr>
          <a:xfrm>
            <a:off x="14142720" y="5394960"/>
            <a:ext cx="12862560" cy="6812280"/>
          </a:xfrm>
          <a:prstGeom prst="roundRect">
            <a:avLst>
              <a:gd name="adj" fmla="val 2885"/>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77" name="Shape 75">
            <a:extLst>
              <a:ext uri="{FF2B5EF4-FFF2-40B4-BE49-F238E27FC236}">
                <a16:creationId xmlns:a16="http://schemas.microsoft.com/office/drawing/2014/main" id="{BCF8DD11-A5C8-4545-AFB0-BE8A16D7FF77}"/>
              </a:ext>
            </a:extLst>
          </p:cNvPr>
          <p:cNvSpPr>
            <a:spLocks noGrp="1"/>
          </p:cNvSpPr>
          <p:nvPr/>
        </p:nvSpPr>
        <p:spPr>
          <a:xfrm>
            <a:off x="14142720" y="20715731"/>
            <a:ext cx="12862560" cy="765815"/>
          </a:xfrm>
          <a:prstGeom prst="rect">
            <a:avLst/>
          </a:prstGeom>
          <a:solidFill>
            <a:srgbClr val="D39C2D"/>
          </a:solidFill>
          <a:ln w="12700">
            <a:solidFill>
              <a:srgbClr val="D39C2D">
                <a:alpha val="0"/>
              </a:srgbClr>
            </a:solidFill>
            <a:prstDash val="solid"/>
          </a:ln>
        </p:spPr>
        <p:txBody>
          <a:bodyPr/>
          <a:lstStyle/>
          <a:p>
            <a:endParaRPr/>
          </a:p>
        </p:txBody>
      </p:sp>
      <p:sp>
        <p:nvSpPr>
          <p:cNvPr id="78" name="Text 76">
            <a:extLst>
              <a:ext uri="{FF2B5EF4-FFF2-40B4-BE49-F238E27FC236}">
                <a16:creationId xmlns:a16="http://schemas.microsoft.com/office/drawing/2014/main" id="{AFD0493B-9C1B-4980-B09E-320BC4DF0BCA}"/>
              </a:ext>
            </a:extLst>
          </p:cNvPr>
          <p:cNvSpPr>
            <a:spLocks noGrp="1"/>
          </p:cNvSpPr>
          <p:nvPr/>
        </p:nvSpPr>
        <p:spPr>
          <a:xfrm>
            <a:off x="14398752" y="20867887"/>
            <a:ext cx="12460224" cy="384048"/>
          </a:xfrm>
          <a:prstGeom prst="rect">
            <a:avLst/>
          </a:prstGeom>
          <a:noFill/>
        </p:spPr>
        <p:txBody>
          <a:bodyPr wrap="square" lIns="0" tIns="0" rIns="0" bIns="0" anchor="t">
            <a:noAutofit/>
          </a:bodyPr>
          <a:lstStyle/>
          <a:p>
            <a:pPr marL="0" indent="0" algn="l">
              <a:buNone/>
            </a:pPr>
            <a:r>
              <a:rPr sz="4000" b="1" dirty="0">
                <a:solidFill>
                  <a:srgbClr val="FFFFFF"/>
                </a:solidFill>
                <a:latin typeface="Aptos"/>
                <a:ea typeface="Aptos"/>
                <a:cs typeface="Aptos"/>
              </a:rPr>
              <a:t>3. Main Results &amp; Takeaway</a:t>
            </a:r>
          </a:p>
        </p:txBody>
      </p:sp>
      <p:sp>
        <p:nvSpPr>
          <p:cNvPr id="79" name="Shape 77">
            <a:extLst>
              <a:ext uri="{FF2B5EF4-FFF2-40B4-BE49-F238E27FC236}">
                <a16:creationId xmlns:a16="http://schemas.microsoft.com/office/drawing/2014/main" id="{14ECA1CE-ED07-4B7B-B616-67C030999BC8}"/>
              </a:ext>
            </a:extLst>
          </p:cNvPr>
          <p:cNvSpPr>
            <a:spLocks noGrp="1"/>
          </p:cNvSpPr>
          <p:nvPr/>
        </p:nvSpPr>
        <p:spPr>
          <a:xfrm>
            <a:off x="27508200" y="5394960"/>
            <a:ext cx="12862560" cy="11338560"/>
          </a:xfrm>
          <a:prstGeom prst="roundRect">
            <a:avLst>
              <a:gd name="adj" fmla="val 1210"/>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80" name="Text 78">
            <a:extLst>
              <a:ext uri="{FF2B5EF4-FFF2-40B4-BE49-F238E27FC236}">
                <a16:creationId xmlns:a16="http://schemas.microsoft.com/office/drawing/2014/main" id="{705D37B4-A68E-4D3A-9D78-9884D8857E1A}"/>
              </a:ext>
            </a:extLst>
          </p:cNvPr>
          <p:cNvSpPr>
            <a:spLocks noGrp="1"/>
          </p:cNvSpPr>
          <p:nvPr/>
        </p:nvSpPr>
        <p:spPr>
          <a:xfrm>
            <a:off x="27764232" y="5559552"/>
            <a:ext cx="12350496" cy="320040"/>
          </a:xfrm>
          <a:prstGeom prst="rect">
            <a:avLst/>
          </a:prstGeom>
          <a:noFill/>
        </p:spPr>
        <p:txBody>
          <a:bodyPr wrap="square" lIns="0" tIns="0" rIns="0" bIns="0" anchor="t">
            <a:noAutofit/>
          </a:bodyPr>
          <a:lstStyle/>
          <a:p>
            <a:pPr marL="0" indent="0" algn="l">
              <a:buNone/>
            </a:pPr>
            <a:r>
              <a:rPr sz="2800" b="1" dirty="0">
                <a:solidFill>
                  <a:srgbClr val="D39C2D"/>
                </a:solidFill>
                <a:latin typeface="Aptos"/>
                <a:ea typeface="Aptos"/>
                <a:cs typeface="Aptos"/>
              </a:rPr>
              <a:t>Survey–EHR Comparison: Convergent AUD Signals</a:t>
            </a:r>
          </a:p>
        </p:txBody>
      </p:sp>
      <p:sp>
        <p:nvSpPr>
          <p:cNvPr id="85" name="Shape 83">
            <a:extLst>
              <a:ext uri="{FF2B5EF4-FFF2-40B4-BE49-F238E27FC236}">
                <a16:creationId xmlns:a16="http://schemas.microsoft.com/office/drawing/2014/main" id="{6EFCAAC7-51C7-48BD-8C8D-2B08EC900101}"/>
              </a:ext>
            </a:extLst>
          </p:cNvPr>
          <p:cNvSpPr>
            <a:spLocks noGrp="1"/>
          </p:cNvSpPr>
          <p:nvPr/>
        </p:nvSpPr>
        <p:spPr>
          <a:xfrm>
            <a:off x="27508200" y="17099280"/>
            <a:ext cx="12862560" cy="7635240"/>
          </a:xfrm>
          <a:prstGeom prst="roundRect">
            <a:avLst>
              <a:gd name="adj" fmla="val 1796"/>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86" name="Text 84">
            <a:extLst>
              <a:ext uri="{FF2B5EF4-FFF2-40B4-BE49-F238E27FC236}">
                <a16:creationId xmlns:a16="http://schemas.microsoft.com/office/drawing/2014/main" id="{69E4ED5A-2470-4E7A-ABB1-C6D4C86727CA}"/>
              </a:ext>
            </a:extLst>
          </p:cNvPr>
          <p:cNvSpPr>
            <a:spLocks noGrp="1"/>
          </p:cNvSpPr>
          <p:nvPr/>
        </p:nvSpPr>
        <p:spPr>
          <a:xfrm>
            <a:off x="27764232" y="17263872"/>
            <a:ext cx="12350496" cy="320040"/>
          </a:xfrm>
          <a:prstGeom prst="rect">
            <a:avLst/>
          </a:prstGeom>
          <a:noFill/>
        </p:spPr>
        <p:txBody>
          <a:bodyPr wrap="square" lIns="0" tIns="0" rIns="0" bIns="0" anchor="t">
            <a:noAutofit/>
          </a:bodyPr>
          <a:lstStyle/>
          <a:p>
            <a:r>
              <a:rPr lang="en-US" sz="2800" b="1" dirty="0">
                <a:solidFill>
                  <a:srgbClr val="D39C2D"/>
                </a:solidFill>
                <a:latin typeface="Aptos"/>
                <a:ea typeface="Aptos"/>
                <a:cs typeface="Aptos"/>
              </a:rPr>
              <a:t>Basic</a:t>
            </a:r>
            <a:r>
              <a:rPr lang="en-US" altLang="zh-CN" sz="2800" b="1" dirty="0">
                <a:solidFill>
                  <a:srgbClr val="D39C2D"/>
                </a:solidFill>
                <a:ea typeface="Aptos"/>
                <a:cs typeface="Aptos"/>
              </a:rPr>
              <a:t>–</a:t>
            </a:r>
            <a:r>
              <a:rPr lang="en-US" sz="2800" b="1" dirty="0">
                <a:solidFill>
                  <a:srgbClr val="D39C2D"/>
                </a:solidFill>
                <a:latin typeface="Aptos"/>
                <a:ea typeface="Aptos"/>
                <a:cs typeface="Aptos"/>
              </a:rPr>
              <a:t>Expanded Adjustment Model </a:t>
            </a:r>
            <a:r>
              <a:rPr sz="2800" b="1" dirty="0">
                <a:solidFill>
                  <a:srgbClr val="D39C2D"/>
                </a:solidFill>
                <a:latin typeface="Aptos"/>
                <a:ea typeface="Aptos"/>
                <a:cs typeface="Aptos"/>
              </a:rPr>
              <a:t>comparison</a:t>
            </a:r>
          </a:p>
        </p:txBody>
      </p:sp>
      <p:sp>
        <p:nvSpPr>
          <p:cNvPr id="90" name="Shape 88">
            <a:extLst>
              <a:ext uri="{FF2B5EF4-FFF2-40B4-BE49-F238E27FC236}">
                <a16:creationId xmlns:a16="http://schemas.microsoft.com/office/drawing/2014/main" id="{31982090-7DEA-4768-B514-D5C533A25ED9}"/>
              </a:ext>
            </a:extLst>
          </p:cNvPr>
          <p:cNvSpPr>
            <a:spLocks noGrp="1"/>
          </p:cNvSpPr>
          <p:nvPr/>
        </p:nvSpPr>
        <p:spPr>
          <a:xfrm>
            <a:off x="27508200" y="25054560"/>
            <a:ext cx="12862560" cy="6041902"/>
          </a:xfrm>
          <a:prstGeom prst="roundRect">
            <a:avLst>
              <a:gd name="adj" fmla="val 3571"/>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a:p>
        </p:txBody>
      </p:sp>
      <p:sp>
        <p:nvSpPr>
          <p:cNvPr id="91" name="Text 89">
            <a:extLst>
              <a:ext uri="{FF2B5EF4-FFF2-40B4-BE49-F238E27FC236}">
                <a16:creationId xmlns:a16="http://schemas.microsoft.com/office/drawing/2014/main" id="{53EDD840-A5B5-432C-9797-E0C9EDEDDB43}"/>
              </a:ext>
            </a:extLst>
          </p:cNvPr>
          <p:cNvSpPr>
            <a:spLocks noGrp="1"/>
          </p:cNvSpPr>
          <p:nvPr/>
        </p:nvSpPr>
        <p:spPr>
          <a:xfrm>
            <a:off x="27764232" y="25219152"/>
            <a:ext cx="12350496" cy="320040"/>
          </a:xfrm>
          <a:prstGeom prst="rect">
            <a:avLst/>
          </a:prstGeom>
          <a:noFill/>
        </p:spPr>
        <p:txBody>
          <a:bodyPr wrap="square" lIns="0" tIns="0" rIns="0" bIns="0" anchor="t">
            <a:noAutofit/>
          </a:bodyPr>
          <a:lstStyle/>
          <a:p>
            <a:pPr marL="0" indent="0" algn="l">
              <a:buNone/>
            </a:pPr>
            <a:r>
              <a:rPr sz="2800" b="1" dirty="0">
                <a:solidFill>
                  <a:srgbClr val="D39C2D"/>
                </a:solidFill>
                <a:latin typeface="Aptos"/>
                <a:ea typeface="Aptos"/>
                <a:cs typeface="Aptos"/>
              </a:rPr>
              <a:t>Conclusion</a:t>
            </a:r>
          </a:p>
        </p:txBody>
      </p:sp>
      <p:sp>
        <p:nvSpPr>
          <p:cNvPr id="92" name="Text 90">
            <a:extLst>
              <a:ext uri="{FF2B5EF4-FFF2-40B4-BE49-F238E27FC236}">
                <a16:creationId xmlns:a16="http://schemas.microsoft.com/office/drawing/2014/main" id="{A3F33324-1F5D-43C7-AFA7-C581BF002E08}"/>
              </a:ext>
            </a:extLst>
          </p:cNvPr>
          <p:cNvSpPr>
            <a:spLocks noGrp="1"/>
          </p:cNvSpPr>
          <p:nvPr/>
        </p:nvSpPr>
        <p:spPr>
          <a:xfrm>
            <a:off x="27919680" y="25648920"/>
            <a:ext cx="12039600" cy="4480560"/>
          </a:xfrm>
          <a:prstGeom prst="rect">
            <a:avLst/>
          </a:prstGeom>
          <a:noFill/>
        </p:spPr>
        <p:txBody>
          <a:bodyPr wrap="square" lIns="762" tIns="762" rIns="762" bIns="762" anchor="t">
            <a:noAutofit/>
          </a:bodyPr>
          <a:lstStyle/>
          <a:p>
            <a:pPr marL="342900" indent="-342900">
              <a:lnSpc>
                <a:spcPct val="160000"/>
              </a:lnSpc>
              <a:buChar char="•"/>
            </a:pPr>
            <a:r>
              <a:rPr sz="2400" dirty="0">
                <a:solidFill>
                  <a:srgbClr val="17212B"/>
                </a:solidFill>
                <a:latin typeface="Aptos"/>
                <a:ea typeface="Aptos"/>
                <a:cs typeface="Aptos"/>
              </a:rPr>
              <a:t>AUD-associated conditions clustered around three major clinical domains: substance use, mental health, and liver/pancreatic disease.</a:t>
            </a:r>
          </a:p>
          <a:p>
            <a:pPr marL="342900" indent="-342900">
              <a:lnSpc>
                <a:spcPct val="160000"/>
              </a:lnSpc>
              <a:buChar char="•"/>
            </a:pPr>
            <a:r>
              <a:rPr sz="2400" dirty="0">
                <a:solidFill>
                  <a:srgbClr val="17212B"/>
                </a:solidFill>
                <a:latin typeface="Aptos"/>
                <a:ea typeface="Aptos"/>
                <a:cs typeface="Aptos"/>
              </a:rPr>
              <a:t>Similar clinical themes appeared in both survey-reported and EHR-derived analyses, supporting a consistent AUD-related comorbidity pattern across data sources.</a:t>
            </a:r>
          </a:p>
          <a:p>
            <a:pPr marL="342900" indent="-342900">
              <a:lnSpc>
                <a:spcPct val="160000"/>
              </a:lnSpc>
              <a:buChar char="•"/>
            </a:pPr>
            <a:r>
              <a:rPr sz="2400" dirty="0">
                <a:solidFill>
                  <a:srgbClr val="17212B"/>
                </a:solidFill>
                <a:latin typeface="Aptos"/>
                <a:ea typeface="Aptos"/>
                <a:cs typeface="Aptos"/>
              </a:rPr>
              <a:t>Survey and EHR data were not interchangeable: survey data captured participant-reported disease history, while EHR data reflected clinically documented diagnoses.</a:t>
            </a:r>
          </a:p>
          <a:p>
            <a:pPr marL="342900" indent="-342900">
              <a:lnSpc>
                <a:spcPct val="160000"/>
              </a:lnSpc>
              <a:buChar char="•"/>
            </a:pPr>
            <a:r>
              <a:rPr sz="2400" dirty="0">
                <a:solidFill>
                  <a:srgbClr val="17212B"/>
                </a:solidFill>
                <a:latin typeface="Aptos"/>
                <a:ea typeface="Aptos"/>
                <a:cs typeface="Aptos"/>
              </a:rPr>
              <a:t>Expanded covariate adjustment helped account for demographic, behavioral, socioeconomic, and family-history factors, making the observed associations more conservative and interpretable.</a:t>
            </a:r>
          </a:p>
        </p:txBody>
      </p:sp>
      <p:sp>
        <p:nvSpPr>
          <p:cNvPr id="94" name="Shape 92">
            <a:extLst>
              <a:ext uri="{FF2B5EF4-FFF2-40B4-BE49-F238E27FC236}">
                <a16:creationId xmlns:a16="http://schemas.microsoft.com/office/drawing/2014/main" id="{B5A467DD-77FC-4F3B-9695-7556568168F4}"/>
              </a:ext>
            </a:extLst>
          </p:cNvPr>
          <p:cNvSpPr>
            <a:spLocks noGrp="1" noRot="1" noMove="1" noResize="1" noEditPoints="1" noAdjustHandles="1" noChangeArrowheads="1" noChangeShapeType="1"/>
          </p:cNvSpPr>
          <p:nvPr/>
        </p:nvSpPr>
        <p:spPr>
          <a:xfrm>
            <a:off x="-6135" y="31351224"/>
            <a:ext cx="41148000" cy="1594733"/>
          </a:xfrm>
          <a:prstGeom prst="rect">
            <a:avLst/>
          </a:prstGeom>
          <a:solidFill>
            <a:srgbClr val="E8EDF2"/>
          </a:solidFill>
          <a:ln w="12700">
            <a:solidFill>
              <a:srgbClr val="E8EDF2"/>
            </a:solidFill>
            <a:prstDash val="solid"/>
          </a:ln>
        </p:spPr>
        <p:txBody>
          <a:bodyPr/>
          <a:lstStyle/>
          <a:p>
            <a:endParaRPr/>
          </a:p>
        </p:txBody>
      </p:sp>
      <p:sp>
        <p:nvSpPr>
          <p:cNvPr id="95" name="Text 93">
            <a:extLst>
              <a:ext uri="{FF2B5EF4-FFF2-40B4-BE49-F238E27FC236}">
                <a16:creationId xmlns:a16="http://schemas.microsoft.com/office/drawing/2014/main" id="{C415E943-8BB4-4DEA-B928-C463DF61D9C7}"/>
              </a:ext>
            </a:extLst>
          </p:cNvPr>
          <p:cNvSpPr>
            <a:spLocks noGrp="1"/>
          </p:cNvSpPr>
          <p:nvPr/>
        </p:nvSpPr>
        <p:spPr>
          <a:xfrm>
            <a:off x="868680" y="31620657"/>
            <a:ext cx="6400800" cy="320040"/>
          </a:xfrm>
          <a:prstGeom prst="rect">
            <a:avLst/>
          </a:prstGeom>
          <a:noFill/>
        </p:spPr>
        <p:txBody>
          <a:bodyPr wrap="square" lIns="0" tIns="0" rIns="0" bIns="0" anchor="t">
            <a:normAutofit/>
          </a:bodyPr>
          <a:lstStyle/>
          <a:p>
            <a:pPr marL="0" indent="0" algn="l">
              <a:buNone/>
            </a:pPr>
            <a:r>
              <a:rPr sz="2000" b="1" dirty="0">
                <a:solidFill>
                  <a:srgbClr val="16324F"/>
                </a:solidFill>
                <a:latin typeface="Aptos"/>
                <a:ea typeface="Aptos"/>
                <a:cs typeface="Aptos"/>
              </a:rPr>
              <a:t>Acknowledgements</a:t>
            </a:r>
          </a:p>
        </p:txBody>
      </p:sp>
      <p:sp>
        <p:nvSpPr>
          <p:cNvPr id="96" name="Text 94">
            <a:extLst>
              <a:ext uri="{FF2B5EF4-FFF2-40B4-BE49-F238E27FC236}">
                <a16:creationId xmlns:a16="http://schemas.microsoft.com/office/drawing/2014/main" id="{F1230E12-12A6-45CF-A6DC-36993BAB8907}"/>
              </a:ext>
            </a:extLst>
          </p:cNvPr>
          <p:cNvSpPr>
            <a:spLocks noGrp="1"/>
          </p:cNvSpPr>
          <p:nvPr/>
        </p:nvSpPr>
        <p:spPr>
          <a:xfrm>
            <a:off x="868680" y="32061529"/>
            <a:ext cx="9646920" cy="640080"/>
          </a:xfrm>
          <a:prstGeom prst="rect">
            <a:avLst/>
          </a:prstGeom>
          <a:noFill/>
        </p:spPr>
        <p:txBody>
          <a:bodyPr wrap="square" lIns="0" tIns="0" rIns="0" bIns="0" anchor="t">
            <a:normAutofit/>
          </a:bodyPr>
          <a:lstStyle/>
          <a:p>
            <a:r>
              <a:rPr dirty="0"/>
              <a:t>Funded by grants from National Institute on Alcoholism and Alcohol Abuse (NIAAA) T32 AA007456, and National Institute of Drug Abuse (NIDA) grants DP1 DA054373.</a:t>
            </a:r>
          </a:p>
        </p:txBody>
      </p:sp>
      <p:sp>
        <p:nvSpPr>
          <p:cNvPr id="100" name="Text 98">
            <a:extLst>
              <a:ext uri="{FF2B5EF4-FFF2-40B4-BE49-F238E27FC236}">
                <a16:creationId xmlns:a16="http://schemas.microsoft.com/office/drawing/2014/main" id="{3A632BAF-3408-4111-8282-49379F2300A8}"/>
              </a:ext>
            </a:extLst>
          </p:cNvPr>
          <p:cNvSpPr>
            <a:spLocks noGrp="1"/>
          </p:cNvSpPr>
          <p:nvPr/>
        </p:nvSpPr>
        <p:spPr>
          <a:xfrm>
            <a:off x="33741360" y="31890115"/>
            <a:ext cx="1920240" cy="411480"/>
          </a:xfrm>
          <a:prstGeom prst="rect">
            <a:avLst/>
          </a:prstGeom>
          <a:noFill/>
        </p:spPr>
        <p:txBody>
          <a:bodyPr wrap="square" lIns="0" tIns="0" rIns="0" bIns="0" anchor="t">
            <a:normAutofit/>
          </a:bodyPr>
          <a:lstStyle/>
          <a:p>
            <a:pPr marL="0" indent="0" algn="ctr">
              <a:buNone/>
            </a:pPr>
            <a:endParaRPr/>
          </a:p>
        </p:txBody>
      </p:sp>
      <p:pic>
        <p:nvPicPr>
          <p:cNvPr id="177" name="图形 10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869005" y="2707457"/>
            <a:ext cx="4657701" cy="886413"/>
          </a:xfrm>
          <a:prstGeom prst="rect">
            <a:avLst/>
          </a:prstGeom>
        </p:spPr>
      </p:pic>
      <p:pic>
        <p:nvPicPr>
          <p:cNvPr id="178" name="图形 110"/>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180732" y="2723713"/>
            <a:ext cx="6098588" cy="744456"/>
          </a:xfrm>
          <a:prstGeom prst="rect">
            <a:avLst/>
          </a:prstGeom>
        </p:spPr>
      </p:pic>
      <p:sp>
        <p:nvSpPr>
          <p:cNvPr id="114" name="Text 27">
            <a:extLst>
              <a:ext uri="{FF2B5EF4-FFF2-40B4-BE49-F238E27FC236}">
                <a16:creationId xmlns:a16="http://schemas.microsoft.com/office/drawing/2014/main" id="{AC2859A2-F6F9-A8B3-950E-BAC9C97C6E08}"/>
              </a:ext>
            </a:extLst>
          </p:cNvPr>
          <p:cNvSpPr>
            <a:spLocks noGrp="1"/>
          </p:cNvSpPr>
          <p:nvPr/>
        </p:nvSpPr>
        <p:spPr>
          <a:xfrm>
            <a:off x="1097280" y="23004093"/>
            <a:ext cx="11856720" cy="7329205"/>
          </a:xfrm>
          <a:prstGeom prst="rect">
            <a:avLst/>
          </a:prstGeom>
          <a:noFill/>
        </p:spPr>
        <p:txBody>
          <a:bodyPr wrap="square" lIns="762" tIns="762" rIns="762" bIns="762" anchor="t">
            <a:noAutofit/>
          </a:bodyPr>
          <a:lstStyle/>
          <a:p>
            <a:pPr marL="285750" indent="-285750">
              <a:buChar char="•"/>
            </a:pPr>
            <a:r>
              <a:rPr sz="2400" b="1" dirty="0"/>
              <a:t>Data source:</a:t>
            </a:r>
            <a:r>
              <a:rPr sz="2400" dirty="0"/>
              <a:t> All of Us Research Program survey and electronic health record (EHR) data</a:t>
            </a:r>
          </a:p>
          <a:p>
            <a:pPr marL="285750" indent="-285750">
              <a:buChar char="•"/>
            </a:pPr>
            <a:r>
              <a:rPr sz="2400" b="1" dirty="0"/>
              <a:t>AUD outcome definitions:</a:t>
            </a:r>
          </a:p>
          <a:p>
            <a:pPr marL="742950" indent="-285750">
              <a:buChar char="•"/>
            </a:pPr>
            <a:r>
              <a:rPr sz="2400" dirty="0"/>
              <a:t>Survey AUD: defined from the Personal and Family Health History survey</a:t>
            </a:r>
          </a:p>
          <a:p>
            <a:pPr marL="742950" indent="-285750">
              <a:buChar char="•"/>
            </a:pPr>
            <a:r>
              <a:rPr sz="2400" dirty="0"/>
              <a:t>EHR AUD: defined from clinical diagnosis records</a:t>
            </a:r>
          </a:p>
          <a:p>
            <a:pPr marL="285750" indent="-285750">
              <a:buChar char="•"/>
            </a:pPr>
            <a:r>
              <a:rPr sz="2400" b="1" dirty="0"/>
              <a:t>Candidate condition screens:</a:t>
            </a:r>
          </a:p>
          <a:p>
            <a:pPr marL="742950" indent="-285750">
              <a:buChar char="•"/>
            </a:pPr>
            <a:r>
              <a:rPr sz="2400" dirty="0"/>
              <a:t>Survey screen: ~150 survey-reported diseases/conditions</a:t>
            </a:r>
          </a:p>
          <a:p>
            <a:pPr marL="742950" indent="-285750">
              <a:buChar char="•"/>
            </a:pPr>
            <a:r>
              <a:rPr sz="2400" dirty="0"/>
              <a:t>EHR screen: top 1,000 most prevalent non-AUD EHR conditions</a:t>
            </a:r>
          </a:p>
          <a:p>
            <a:pPr marL="285750" indent="-285750">
              <a:buChar char="•"/>
            </a:pPr>
            <a:r>
              <a:rPr sz="2400" b="1" dirty="0"/>
              <a:t>Modeling approach:</a:t>
            </a:r>
          </a:p>
          <a:p>
            <a:pPr marL="742950" indent="-285750">
              <a:buChar char="•"/>
            </a:pPr>
            <a:r>
              <a:rPr sz="2400" dirty="0"/>
              <a:t>Used logistic regression to estimate each condition’s association with binary AUD status</a:t>
            </a:r>
          </a:p>
          <a:p>
            <a:pPr marL="742950" indent="-285750">
              <a:buChar char="•"/>
            </a:pPr>
            <a:r>
              <a:rPr lang="en-US" sz="2400" dirty="0"/>
              <a:t>Reported adjusted odds ratios and confidence intervals</a:t>
            </a:r>
          </a:p>
          <a:p>
            <a:pPr marL="285750" indent="-285750">
              <a:buChar char="•"/>
            </a:pPr>
            <a:r>
              <a:rPr sz="2400" b="1" dirty="0"/>
              <a:t>Covariate adjustment:</a:t>
            </a:r>
          </a:p>
          <a:p>
            <a:pPr marL="742950" indent="-285750">
              <a:buChar char="•"/>
            </a:pPr>
            <a:r>
              <a:rPr sz="2400" dirty="0"/>
              <a:t>Basic model: age, race/ethnicity, sex at birth, education</a:t>
            </a:r>
          </a:p>
          <a:p>
            <a:pPr marL="742950" indent="-285750">
              <a:buChar char="•"/>
            </a:pPr>
            <a:r>
              <a:rPr sz="2400" dirty="0"/>
              <a:t>Expanded model: marital status, health insurance, employment, household income, smoking history, and AUD family history</a:t>
            </a:r>
          </a:p>
          <a:p>
            <a:pPr marL="742950" indent="-285750">
              <a:buChar char="•"/>
            </a:pPr>
            <a:r>
              <a:rPr sz="2400" dirty="0"/>
              <a:t>Education was removed from the final expanded model after losing independent significance under richer adjustment</a:t>
            </a:r>
          </a:p>
          <a:p>
            <a:pPr marL="285750" indent="-285750">
              <a:buChar char="•"/>
            </a:pPr>
            <a:r>
              <a:rPr sz="2400" b="1" dirty="0"/>
              <a:t>Survey–EHR comparison:</a:t>
            </a:r>
          </a:p>
          <a:p>
            <a:pPr marL="742950" indent="-285750">
              <a:buChar char="•"/>
            </a:pPr>
            <a:r>
              <a:rPr sz="2400" dirty="0"/>
              <a:t>Matched condition names across survey and EHR sources using text similarity</a:t>
            </a:r>
          </a:p>
          <a:p>
            <a:pPr marL="742950" indent="-285750">
              <a:buChar char="•"/>
            </a:pPr>
            <a:r>
              <a:rPr sz="2400" dirty="0"/>
              <a:t>Compared adjusted odds ratios to identify convergent AUD-associated clinical signals</a:t>
            </a:r>
          </a:p>
        </p:txBody>
      </p:sp>
      <p:pic>
        <p:nvPicPr>
          <p:cNvPr id="181" name="图片 117"/>
          <p:cNvPicPr>
            <a:picLocks noChangeAspect="1"/>
          </p:cNvPicPr>
          <p:nvPr/>
        </p:nvPicPr>
        <p:blipFill>
          <a:blip r:embed="rId5"/>
          <a:stretch>
            <a:fillRect/>
          </a:stretch>
        </p:blipFill>
        <p:spPr>
          <a:xfrm>
            <a:off x="15180028" y="6058730"/>
            <a:ext cx="10540357" cy="5932102"/>
          </a:xfrm>
          <a:prstGeom prst="rect">
            <a:avLst/>
          </a:prstGeom>
        </p:spPr>
      </p:pic>
      <p:sp>
        <p:nvSpPr>
          <p:cNvPr id="119" name="Text 63">
            <a:extLst>
              <a:ext uri="{FF2B5EF4-FFF2-40B4-BE49-F238E27FC236}">
                <a16:creationId xmlns:a16="http://schemas.microsoft.com/office/drawing/2014/main" id="{B518396D-400A-4798-9F61-AF1D47B7F542}"/>
              </a:ext>
            </a:extLst>
          </p:cNvPr>
          <p:cNvSpPr>
            <a:spLocks noGrp="1"/>
          </p:cNvSpPr>
          <p:nvPr/>
        </p:nvSpPr>
        <p:spPr>
          <a:xfrm>
            <a:off x="14398752" y="5555810"/>
            <a:ext cx="12350496" cy="320040"/>
          </a:xfrm>
          <a:prstGeom prst="rect">
            <a:avLst/>
          </a:prstGeom>
          <a:noFill/>
        </p:spPr>
        <p:txBody>
          <a:bodyPr wrap="square" lIns="0" tIns="0" rIns="0" bIns="0" anchor="t">
            <a:noAutofit/>
          </a:bodyPr>
          <a:lstStyle/>
          <a:p>
            <a:pPr marL="0" indent="0" algn="l">
              <a:buNone/>
            </a:pPr>
            <a:r>
              <a:rPr sz="2800" b="1" dirty="0">
                <a:solidFill>
                  <a:srgbClr val="16324F"/>
                </a:solidFill>
                <a:latin typeface="Aptos"/>
                <a:ea typeface="Aptos"/>
                <a:cs typeface="Aptos"/>
              </a:rPr>
              <a:t>Cohort Statistics</a:t>
            </a:r>
          </a:p>
        </p:txBody>
      </p:sp>
      <p:sp>
        <p:nvSpPr>
          <p:cNvPr id="122" name="Shape 75">
            <a:extLst>
              <a:ext uri="{FF2B5EF4-FFF2-40B4-BE49-F238E27FC236}">
                <a16:creationId xmlns:a16="http://schemas.microsoft.com/office/drawing/2014/main" id="{902A062F-6F3C-0CE2-3EF6-29522645DB2E}"/>
              </a:ext>
            </a:extLst>
          </p:cNvPr>
          <p:cNvSpPr>
            <a:spLocks noGrp="1"/>
          </p:cNvSpPr>
          <p:nvPr/>
        </p:nvSpPr>
        <p:spPr>
          <a:xfrm>
            <a:off x="27508200" y="4411299"/>
            <a:ext cx="12862560" cy="800780"/>
          </a:xfrm>
          <a:prstGeom prst="rect">
            <a:avLst/>
          </a:prstGeom>
          <a:solidFill>
            <a:srgbClr val="D39C2D"/>
          </a:solidFill>
          <a:ln w="12700">
            <a:solidFill>
              <a:srgbClr val="D39C2D">
                <a:alpha val="0"/>
              </a:srgbClr>
            </a:solidFill>
            <a:prstDash val="solid"/>
          </a:ln>
        </p:spPr>
        <p:txBody>
          <a:bodyPr/>
          <a:lstStyle/>
          <a:p>
            <a:endParaRPr/>
          </a:p>
        </p:txBody>
      </p:sp>
      <p:sp>
        <p:nvSpPr>
          <p:cNvPr id="123" name="Text 76">
            <a:extLst>
              <a:ext uri="{FF2B5EF4-FFF2-40B4-BE49-F238E27FC236}">
                <a16:creationId xmlns:a16="http://schemas.microsoft.com/office/drawing/2014/main" id="{BA464B5B-3B47-8DC9-1C33-1D1F81B157EE}"/>
              </a:ext>
            </a:extLst>
          </p:cNvPr>
          <p:cNvSpPr>
            <a:spLocks noGrp="1"/>
          </p:cNvSpPr>
          <p:nvPr/>
        </p:nvSpPr>
        <p:spPr>
          <a:xfrm>
            <a:off x="27764232" y="4517038"/>
            <a:ext cx="12460224" cy="384048"/>
          </a:xfrm>
          <a:prstGeom prst="rect">
            <a:avLst/>
          </a:prstGeom>
          <a:noFill/>
        </p:spPr>
        <p:txBody>
          <a:bodyPr wrap="square" lIns="0" tIns="0" rIns="0" bIns="0" anchor="t">
            <a:noAutofit/>
          </a:bodyPr>
          <a:lstStyle/>
          <a:p>
            <a:pPr marL="0" indent="0" algn="l">
              <a:buNone/>
            </a:pPr>
            <a:r>
              <a:rPr sz="4000" b="1" dirty="0">
                <a:solidFill>
                  <a:srgbClr val="FFFFFF"/>
                </a:solidFill>
                <a:latin typeface="Aptos"/>
                <a:ea typeface="Aptos"/>
                <a:cs typeface="Aptos"/>
              </a:rPr>
              <a:t>3. Main Results &amp; Takeaway (Cont’d)</a:t>
            </a:r>
          </a:p>
        </p:txBody>
      </p:sp>
      <p:sp>
        <p:nvSpPr>
          <p:cNvPr id="124" name="Shape 83">
            <a:extLst>
              <a:ext uri="{FF2B5EF4-FFF2-40B4-BE49-F238E27FC236}">
                <a16:creationId xmlns:a16="http://schemas.microsoft.com/office/drawing/2014/main" id="{8B0D2B54-F6B7-5B50-ECF1-61F0B555625E}"/>
              </a:ext>
            </a:extLst>
          </p:cNvPr>
          <p:cNvSpPr>
            <a:spLocks noGrp="1"/>
          </p:cNvSpPr>
          <p:nvPr/>
        </p:nvSpPr>
        <p:spPr>
          <a:xfrm>
            <a:off x="14136585" y="21687173"/>
            <a:ext cx="12862560" cy="9431087"/>
          </a:xfrm>
          <a:prstGeom prst="roundRect">
            <a:avLst>
              <a:gd name="adj" fmla="val 1796"/>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dirty="0"/>
          </a:p>
        </p:txBody>
      </p:sp>
      <p:sp>
        <p:nvSpPr>
          <p:cNvPr id="125" name="Text 84">
            <a:extLst>
              <a:ext uri="{FF2B5EF4-FFF2-40B4-BE49-F238E27FC236}">
                <a16:creationId xmlns:a16="http://schemas.microsoft.com/office/drawing/2014/main" id="{26D1F150-60EC-FB91-54FB-CDF56783AD75}"/>
              </a:ext>
            </a:extLst>
          </p:cNvPr>
          <p:cNvSpPr>
            <a:spLocks noGrp="1"/>
          </p:cNvSpPr>
          <p:nvPr/>
        </p:nvSpPr>
        <p:spPr>
          <a:xfrm>
            <a:off x="14336650" y="21907683"/>
            <a:ext cx="12350496" cy="320040"/>
          </a:xfrm>
          <a:prstGeom prst="rect">
            <a:avLst/>
          </a:prstGeom>
          <a:noFill/>
        </p:spPr>
        <p:txBody>
          <a:bodyPr wrap="square" lIns="0" tIns="0" rIns="0" bIns="0" anchor="t">
            <a:noAutofit/>
          </a:bodyPr>
          <a:lstStyle/>
          <a:p>
            <a:pPr marL="0" indent="0" algn="l">
              <a:buNone/>
            </a:pPr>
            <a:r>
              <a:rPr sz="2800" b="1" dirty="0">
                <a:solidFill>
                  <a:srgbClr val="D39C2D"/>
                </a:solidFill>
                <a:latin typeface="Aptos"/>
                <a:ea typeface="Aptos"/>
                <a:cs typeface="Aptos"/>
              </a:rPr>
              <a:t>Expanded-Adjustment Condition Associations with AUD</a:t>
            </a:r>
          </a:p>
        </p:txBody>
      </p:sp>
      <p:pic>
        <p:nvPicPr>
          <p:cNvPr id="190" name="图片 130"/>
          <p:cNvPicPr>
            <a:picLocks noChangeAspect="1"/>
          </p:cNvPicPr>
          <p:nvPr/>
        </p:nvPicPr>
        <p:blipFill>
          <a:blip r:embed="rId6"/>
          <a:stretch>
            <a:fillRect/>
          </a:stretch>
        </p:blipFill>
        <p:spPr>
          <a:xfrm>
            <a:off x="28154585" y="6530422"/>
            <a:ext cx="11569789" cy="8940883"/>
          </a:xfrm>
          <a:prstGeom prst="rect">
            <a:avLst/>
          </a:prstGeom>
        </p:spPr>
      </p:pic>
      <p:pic>
        <p:nvPicPr>
          <p:cNvPr id="191" name="图片 131"/>
          <p:cNvPicPr>
            <a:picLocks noChangeAspect="1"/>
          </p:cNvPicPr>
          <p:nvPr/>
        </p:nvPicPr>
        <p:blipFill>
          <a:blip r:embed="rId7"/>
          <a:stretch>
            <a:fillRect/>
          </a:stretch>
        </p:blipFill>
        <p:spPr>
          <a:xfrm>
            <a:off x="27690488" y="18490825"/>
            <a:ext cx="6103407" cy="4825133"/>
          </a:xfrm>
          <a:prstGeom prst="rect">
            <a:avLst/>
          </a:prstGeom>
        </p:spPr>
      </p:pic>
      <p:pic>
        <p:nvPicPr>
          <p:cNvPr id="192" name="图片 132"/>
          <p:cNvPicPr>
            <a:picLocks noChangeAspect="1"/>
          </p:cNvPicPr>
          <p:nvPr/>
        </p:nvPicPr>
        <p:blipFill>
          <a:blip r:embed="rId8"/>
          <a:stretch>
            <a:fillRect/>
          </a:stretch>
        </p:blipFill>
        <p:spPr>
          <a:xfrm>
            <a:off x="34220615" y="18473854"/>
            <a:ext cx="6061268" cy="4825133"/>
          </a:xfrm>
          <a:prstGeom prst="rect">
            <a:avLst/>
          </a:prstGeom>
        </p:spPr>
      </p:pic>
      <p:pic>
        <p:nvPicPr>
          <p:cNvPr id="193" name="Picture 3"/>
          <p:cNvPicPr>
            <a:picLocks noChangeAspect="1"/>
          </p:cNvPicPr>
          <p:nvPr/>
        </p:nvPicPr>
        <p:blipFill>
          <a:blip r:embed="rId9"/>
          <a:stretch>
            <a:fillRect/>
          </a:stretch>
        </p:blipFill>
        <p:spPr>
          <a:xfrm>
            <a:off x="11050570" y="31940697"/>
            <a:ext cx="2589230" cy="667810"/>
          </a:xfrm>
          <a:prstGeom prst="rect">
            <a:avLst/>
          </a:prstGeom>
        </p:spPr>
      </p:pic>
      <p:pic>
        <p:nvPicPr>
          <p:cNvPr id="194" name="Picture 4"/>
          <p:cNvPicPr>
            <a:picLocks noChangeAspect="1"/>
          </p:cNvPicPr>
          <p:nvPr/>
        </p:nvPicPr>
        <p:blipFill>
          <a:blip r:embed="rId10"/>
          <a:stretch>
            <a:fillRect/>
          </a:stretch>
        </p:blipFill>
        <p:spPr>
          <a:xfrm>
            <a:off x="14232491" y="31937768"/>
            <a:ext cx="2559939" cy="673668"/>
          </a:xfrm>
          <a:prstGeom prst="rect">
            <a:avLst/>
          </a:prstGeom>
        </p:spPr>
      </p:pic>
      <p:pic>
        <p:nvPicPr>
          <p:cNvPr id="195" name="图片 194"/>
          <p:cNvPicPr>
            <a:picLocks noChangeAspect="1"/>
          </p:cNvPicPr>
          <p:nvPr/>
        </p:nvPicPr>
        <p:blipFill>
          <a:blip r:embed="rId11"/>
          <a:stretch/>
        </p:blipFill>
        <p:spPr>
          <a:xfrm>
            <a:off x="37936170" y="30674667"/>
            <a:ext cx="2175510" cy="2175510"/>
          </a:xfrm>
          <a:prstGeom prst="rect">
            <a:avLst/>
          </a:prstGeom>
        </p:spPr>
      </p:pic>
      <p:pic>
        <p:nvPicPr>
          <p:cNvPr id="8" name="图片 7">
            <a:extLst>
              <a:ext uri="{FF2B5EF4-FFF2-40B4-BE49-F238E27FC236}">
                <a16:creationId xmlns:a16="http://schemas.microsoft.com/office/drawing/2014/main" id="{DA0B33E7-F59A-DB21-92B9-A7FD6E5B82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56436" y="15615133"/>
            <a:ext cx="12350496" cy="5866414"/>
          </a:xfrm>
          <a:prstGeom prst="rect">
            <a:avLst/>
          </a:prstGeom>
        </p:spPr>
      </p:pic>
      <p:grpSp>
        <p:nvGrpSpPr>
          <p:cNvPr id="7" name="组合 6">
            <a:extLst>
              <a:ext uri="{FF2B5EF4-FFF2-40B4-BE49-F238E27FC236}">
                <a16:creationId xmlns:a16="http://schemas.microsoft.com/office/drawing/2014/main" id="{7002998B-32A3-51A8-473B-1DC9D80EDE03}"/>
              </a:ext>
            </a:extLst>
          </p:cNvPr>
          <p:cNvGrpSpPr/>
          <p:nvPr/>
        </p:nvGrpSpPr>
        <p:grpSpPr>
          <a:xfrm>
            <a:off x="14142720" y="12582144"/>
            <a:ext cx="12862560" cy="7772400"/>
            <a:chOff x="14142720" y="21305520"/>
            <a:chExt cx="12862560" cy="7772400"/>
          </a:xfrm>
        </p:grpSpPr>
        <p:sp>
          <p:nvSpPr>
            <p:cNvPr id="11" name="Shape 70">
              <a:extLst>
                <a:ext uri="{FF2B5EF4-FFF2-40B4-BE49-F238E27FC236}">
                  <a16:creationId xmlns:a16="http://schemas.microsoft.com/office/drawing/2014/main" id="{F6F34624-94F7-7454-03BA-4ACFD4AAF163}"/>
                </a:ext>
              </a:extLst>
            </p:cNvPr>
            <p:cNvSpPr/>
            <p:nvPr/>
          </p:nvSpPr>
          <p:spPr>
            <a:xfrm>
              <a:off x="14142720" y="21305520"/>
              <a:ext cx="12862560" cy="7772400"/>
            </a:xfrm>
            <a:prstGeom prst="roundRect">
              <a:avLst>
                <a:gd name="adj" fmla="val 1765"/>
              </a:avLst>
            </a:prstGeom>
            <a:solidFill>
              <a:srgbClr val="FFFFFF"/>
            </a:solidFill>
            <a:ln w="12700">
              <a:solidFill>
                <a:srgbClr val="CAD2D9"/>
              </a:solidFill>
              <a:prstDash val="solid"/>
            </a:ln>
            <a:effectLst>
              <a:outerShdw blurRad="12700" dist="50800" dir="2700000" algn="bl" rotWithShape="0">
                <a:srgbClr val="B9C1CA">
                  <a:alpha val="12000"/>
                </a:srgbClr>
              </a:outerShdw>
            </a:effectLst>
          </p:spPr>
          <p:txBody>
            <a:bodyPr/>
            <a:lstStyle/>
            <a:p>
              <a:endParaRPr lang="zh-CN" altLang="en-US"/>
            </a:p>
          </p:txBody>
        </p:sp>
        <p:sp>
          <p:nvSpPr>
            <p:cNvPr id="12" name="Text 71">
              <a:extLst>
                <a:ext uri="{FF2B5EF4-FFF2-40B4-BE49-F238E27FC236}">
                  <a16:creationId xmlns:a16="http://schemas.microsoft.com/office/drawing/2014/main" id="{CD5BFD21-A9FD-381B-A61C-3E19C22BFB67}"/>
                </a:ext>
              </a:extLst>
            </p:cNvPr>
            <p:cNvSpPr/>
            <p:nvPr/>
          </p:nvSpPr>
          <p:spPr>
            <a:xfrm>
              <a:off x="14398752" y="21470112"/>
              <a:ext cx="12350496" cy="320040"/>
            </a:xfrm>
            <a:prstGeom prst="rect">
              <a:avLst/>
            </a:prstGeom>
            <a:noFill/>
            <a:ln/>
          </p:spPr>
          <p:txBody>
            <a:bodyPr wrap="square" lIns="0" tIns="0" rIns="0" bIns="0" rtlCol="0" anchor="t">
              <a:noAutofit/>
            </a:bodyPr>
            <a:lstStyle/>
            <a:p>
              <a:pPr marL="0" indent="0" algn="l">
                <a:buNone/>
              </a:pPr>
              <a:r>
                <a:rPr lang="en-US" sz="2800" b="1" dirty="0">
                  <a:solidFill>
                    <a:srgbClr val="16324F"/>
                  </a:solidFill>
                  <a:latin typeface="Aptos" pitchFamily="34" charset="0"/>
                  <a:ea typeface="Aptos" pitchFamily="34" charset="-122"/>
                  <a:cs typeface="Aptos" pitchFamily="34" charset="-120"/>
                </a:rPr>
                <a:t>Covariate Importance and Adjustment</a:t>
              </a:r>
              <a:endParaRPr lang="en-US" sz="2800" dirty="0"/>
            </a:p>
          </p:txBody>
        </p:sp>
      </p:grpSp>
      <p:pic>
        <p:nvPicPr>
          <p:cNvPr id="14" name="图片 13">
            <a:extLst>
              <a:ext uri="{FF2B5EF4-FFF2-40B4-BE49-F238E27FC236}">
                <a16:creationId xmlns:a16="http://schemas.microsoft.com/office/drawing/2014/main" id="{B96E2766-9AE3-BEC3-BE74-E0E54BAE2B53}"/>
              </a:ext>
            </a:extLst>
          </p:cNvPr>
          <p:cNvPicPr>
            <a:picLocks noChangeAspect="1"/>
          </p:cNvPicPr>
          <p:nvPr/>
        </p:nvPicPr>
        <p:blipFill>
          <a:blip r:embed="rId13"/>
          <a:stretch>
            <a:fillRect/>
          </a:stretch>
        </p:blipFill>
        <p:spPr>
          <a:xfrm>
            <a:off x="14460854" y="13299740"/>
            <a:ext cx="12226292" cy="6681931"/>
          </a:xfrm>
          <a:prstGeom prst="rect">
            <a:avLst/>
          </a:prstGeom>
        </p:spPr>
      </p:pic>
      <p:pic>
        <p:nvPicPr>
          <p:cNvPr id="27" name="图片 26">
            <a:extLst>
              <a:ext uri="{FF2B5EF4-FFF2-40B4-BE49-F238E27FC236}">
                <a16:creationId xmlns:a16="http://schemas.microsoft.com/office/drawing/2014/main" id="{E1E6E044-F900-87E2-18B4-4C048D5E418A}"/>
              </a:ext>
            </a:extLst>
          </p:cNvPr>
          <p:cNvPicPr>
            <a:picLocks noChangeAspect="1"/>
          </p:cNvPicPr>
          <p:nvPr/>
        </p:nvPicPr>
        <p:blipFill>
          <a:blip r:embed="rId14"/>
          <a:stretch>
            <a:fillRect/>
          </a:stretch>
        </p:blipFill>
        <p:spPr>
          <a:xfrm>
            <a:off x="14148855" y="23048976"/>
            <a:ext cx="6442379" cy="6989428"/>
          </a:xfrm>
          <a:prstGeom prst="rect">
            <a:avLst/>
          </a:prstGeom>
        </p:spPr>
      </p:pic>
      <p:pic>
        <p:nvPicPr>
          <p:cNvPr id="30" name="图片 29">
            <a:extLst>
              <a:ext uri="{FF2B5EF4-FFF2-40B4-BE49-F238E27FC236}">
                <a16:creationId xmlns:a16="http://schemas.microsoft.com/office/drawing/2014/main" id="{6F53776D-F6F5-CCF5-B05F-65412B3D4970}"/>
              </a:ext>
            </a:extLst>
          </p:cNvPr>
          <p:cNvPicPr>
            <a:picLocks noChangeAspect="1"/>
          </p:cNvPicPr>
          <p:nvPr/>
        </p:nvPicPr>
        <p:blipFill>
          <a:blip r:embed="rId15"/>
          <a:stretch>
            <a:fillRect/>
          </a:stretch>
        </p:blipFill>
        <p:spPr>
          <a:xfrm>
            <a:off x="20567865" y="22991831"/>
            <a:ext cx="6398243" cy="6842646"/>
          </a:xfrm>
          <a:prstGeom prst="rect">
            <a:avLst/>
          </a:prstGeom>
        </p:spPr>
      </p:pic>
      <p:sp>
        <p:nvSpPr>
          <p:cNvPr id="34" name="Text 94">
            <a:extLst>
              <a:ext uri="{FF2B5EF4-FFF2-40B4-BE49-F238E27FC236}">
                <a16:creationId xmlns:a16="http://schemas.microsoft.com/office/drawing/2014/main" id="{00AB8687-0308-EA75-165A-8719E230410B}"/>
              </a:ext>
            </a:extLst>
          </p:cNvPr>
          <p:cNvSpPr>
            <a:spLocks noGrp="1"/>
          </p:cNvSpPr>
          <p:nvPr/>
        </p:nvSpPr>
        <p:spPr>
          <a:xfrm>
            <a:off x="17352224" y="31937768"/>
            <a:ext cx="9646920" cy="640080"/>
          </a:xfrm>
          <a:prstGeom prst="rect">
            <a:avLst/>
          </a:prstGeom>
          <a:noFill/>
        </p:spPr>
        <p:txBody>
          <a:bodyPr wrap="square" lIns="0" tIns="0" rIns="0" bIns="0" anchor="t">
            <a:normAutofit fontScale="92500" lnSpcReduction="20000"/>
          </a:bodyPr>
          <a:lstStyle/>
          <a:p>
            <a:r>
              <a:rPr lang="en-US" dirty="0"/>
              <a:t>We gratefully acknowledge All of Us participants for their contributions, without whom this research would not have been possible. We also thank the National Institutes of Health’s All of Us Research Program for making available the participant data examined in this study.</a:t>
            </a:r>
            <a:endParaRPr dirty="0"/>
          </a:p>
        </p:txBody>
      </p:sp>
      <p:pic>
        <p:nvPicPr>
          <p:cNvPr id="35" name="图片 34" descr="User Support Help Center home page">
            <a:extLst>
              <a:ext uri="{FF2B5EF4-FFF2-40B4-BE49-F238E27FC236}">
                <a16:creationId xmlns:a16="http://schemas.microsoft.com/office/drawing/2014/main" id="{3FA46FC3-98CF-BCCF-AC02-D2FC9DF6BBFC}"/>
              </a:ext>
            </a:extLst>
          </p:cNvPr>
          <p:cNvPicPr>
            <a:picLocks noChangeAspect="1"/>
          </p:cNvPicPr>
          <p:nvPr/>
        </p:nvPicPr>
        <p:blipFill>
          <a:blip r:embed="rId16"/>
          <a:stretch>
            <a:fillRect/>
          </a:stretch>
        </p:blipFill>
        <p:spPr>
          <a:xfrm>
            <a:off x="26921564" y="31847887"/>
            <a:ext cx="2299125" cy="814450"/>
          </a:xfrm>
          <a:prstGeom prst="rect">
            <a:avLst/>
          </a:prstGeom>
        </p:spPr>
      </p:pic>
    </p:spTree>
    <p:extLst>
      <p:ext uri="{BB962C8B-B14F-4D97-AF65-F5344CB8AC3E}">
        <p14:creationId xmlns:p14="http://schemas.microsoft.com/office/powerpoint/2010/main" val="582815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824</TotalTime>
  <Words>603</Words>
  <Application>Microsoft Office PowerPoint</Application>
  <DocSecurity>0</DocSecurity>
  <PresentationFormat>自定义</PresentationFormat>
  <Paragraphs>54</Paragraphs>
  <Slides>1</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vt:i4>
      </vt:variant>
    </vt:vector>
  </HeadingPairs>
  <TitlesOfParts>
    <vt:vector size="5" baseType="lpstr">
      <vt:lpstr>Aptos</vt:lpstr>
      <vt:lpstr>Aptos Display</vt:lpstr>
      <vt:lpstr>Arial</vt:lpstr>
      <vt:lpstr>Office Theme</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Jerry Liu</cp:lastModifiedBy>
  <cp:revision>11</cp:revision>
  <dcterms:created xsi:type="dcterms:W3CDTF">2026-06-17T09:43:53Z</dcterms:created>
  <dcterms:modified xsi:type="dcterms:W3CDTF">2026-06-18T21:08:21Z</dcterms:modified>
</cp:coreProperties>
</file>