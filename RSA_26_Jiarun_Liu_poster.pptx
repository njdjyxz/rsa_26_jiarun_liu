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15482d54b74ff9" /><Relationship Type="http://schemas.openxmlformats.org/officeDocument/2006/relationships/extended-properties" Target="/docProps/app.xml" Id="R15bcd8a3e7b04d00" /><Relationship Type="http://schemas.openxmlformats.org/officeDocument/2006/relationships/officeDocument" Target="/ppt/presentation.xml" Id="Rb7817de262fd4d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494264959f463b"/>
  </p:sldMasterIdLst>
  <p:notesMasterIdLst>
    <p:notesMasterId xmlns:r="http://schemas.openxmlformats.org/officeDocument/2006/relationships" r:id="Ra8d140cf692a434d"/>
  </p:notesMasterIdLst>
  <p:sldIdLst>
    <p:sldId xmlns:r="http://schemas.openxmlformats.org/officeDocument/2006/relationships" id="256" r:id="R8b8a3c4611bb4d12"/>
  </p:sldIdLst>
  <p:sldSz cx="411480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7e91adc5c341a4" /><Relationship Type="http://schemas.openxmlformats.org/officeDocument/2006/relationships/slideMaster" Target="/ppt/slideMasters/slideMaster1.xml" Id="Rff494264959f463b" /><Relationship Type="http://schemas.openxmlformats.org/officeDocument/2006/relationships/notesMaster" Target="/ppt/notesMasters/notesMaster1.xml" Id="Ra8d140cf692a434d" /><Relationship Type="http://schemas.openxmlformats.org/officeDocument/2006/relationships/presProps" Target="/ppt/presProps.xml" Id="R3f89c4e9ca6d42f1" /><Relationship Type="http://schemas.openxmlformats.org/officeDocument/2006/relationships/tableStyles" Target="/ppt/tableStyles.xml" Id="R39a90b2395d74363" /><Relationship Type="http://schemas.openxmlformats.org/officeDocument/2006/relationships/slide" Target="/ppt/slides/slide1.xml" Id="R8b8a3c4611bb4d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3f91810a5841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bebfec44b24531" /><Relationship Type="http://schemas.openxmlformats.org/officeDocument/2006/relationships/notesMaster" Target="/ppt/notesMasters/notesMaster1.xml" Id="R1550c3a225a547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</a:t>
            </a:r>
            <a:r>
              <a:t>ethod</a:t>
            </a:r>
            <a:r>
              <a:t>， </a:t>
            </a:r>
            <a:r>
              <a:t>cohort build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8487820aa64b6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0d5d64765e4e1c" /><Relationship Type="http://schemas.openxmlformats.org/officeDocument/2006/relationships/slideLayout" Target="/ppt/slideLayouts/slideLayout1.xml" Id="R8b7ae8c44e30486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7ae8c44e30486c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eaf8d58644a24" /><Relationship Type="http://schemas.openxmlformats.org/officeDocument/2006/relationships/image" Target="/ppt/media/image.png" Id="R211cbdcabde24468" /><Relationship Type="http://schemas.openxmlformats.org/officeDocument/2006/relationships/image" Target="/ppt/media/image.svg" Id="R09716ef2324340fc" /><Relationship Type="http://schemas.openxmlformats.org/officeDocument/2006/relationships/image" Target="/ppt/media/image2.png" Id="Rd03bcfe246fb433b" /><Relationship Type="http://schemas.openxmlformats.org/officeDocument/2006/relationships/image" Target="/ppt/media/image2.svg" Id="R0147d911ca474222" /><Relationship Type="http://schemas.openxmlformats.org/officeDocument/2006/relationships/image" Target="/ppt/media/image3.png" Id="R7d3524e597d54110" /><Relationship Type="http://schemas.openxmlformats.org/officeDocument/2006/relationships/image" Target="/ppt/media/image4.png" Id="Ra1ed32e430274195" /><Relationship Type="http://schemas.openxmlformats.org/officeDocument/2006/relationships/image" Target="/ppt/media/image5.png" Id="Re6cd731a7e074837" /><Relationship Type="http://schemas.openxmlformats.org/officeDocument/2006/relationships/image" Target="/ppt/media/image6.png" Id="Rba6874f7ab8441d1" /><Relationship Type="http://schemas.openxmlformats.org/officeDocument/2006/relationships/image" Target="/ppt/media/image7.png" Id="R2cd1e8b1befb4859" /><Relationship Type="http://schemas.openxmlformats.org/officeDocument/2006/relationships/image" Target="/ppt/media/image8.png" Id="R4d42d8eec6934098" /><Relationship Type="http://schemas.openxmlformats.org/officeDocument/2006/relationships/image" Target="/ppt/media/image9.png" Id="Rbe1accbd68ae4fa2" /><Relationship Type="http://schemas.openxmlformats.org/officeDocument/2006/relationships/image" Target="/ppt/media/image10.png" Id="R063d30dc04e04299" /><Relationship Type="http://schemas.openxmlformats.org/officeDocument/2006/relationships/image" Target="/ppt/media/image.jpeg" Id="Rd1120bf3997f4842" /><Relationship Type="http://schemas.openxmlformats.org/officeDocument/2006/relationships/image" Target="/ppt/media/image2.jpeg" Id="R2ce495c0f91d4218" /><Relationship Type="http://schemas.openxmlformats.org/officeDocument/2006/relationships/image" Target="/ppt/media/image11.png" Id="R22df397c92104842" /><Relationship Type="http://schemas.openxmlformats.org/officeDocument/2006/relationships/notesSlide" Target="/ppt/notesSlides/notesSlide1.xml" Id="R5677dd4b47004b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BE03D32-448D-48D6-9F74-CBD4FE18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1148000" cy="4251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2700">
            <a:solidFill>
              <a:srgbClr val="102A4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11199EE-851D-480A-82EE-30FE3F83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69080"/>
            <a:ext cx="41148000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9C2D"/>
          </a:solidFill>
          <a:ln xmlns:a="http://schemas.openxmlformats.org/drawingml/2006/main" w="12700">
            <a:solidFill>
              <a:srgbClr val="D39C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A05EC09-12B5-43B7-A3F6-E89A469E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0352"/>
            <a:ext cx="25181169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Clinical and Behavioral Factors Associated with Alcohol Use Disorder</a:t>
            </a:r>
            <a:r>
              <a:rPr sz="6000"/>
              <a:t> </a:t>
            </a:r>
            <a:r>
              <a:rPr sz="6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 the All of Us Research Program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5BBBA4F-2B93-42F7-8A22-7A3953C8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00470"/>
            <a:ext cx="320040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 u="sng">
                <a:solidFill>
                  <a:srgbClr val="E6EDF3"/>
                </a:solidFill>
                <a:latin typeface="Aptos"/>
                <a:ea typeface="Aptos"/>
                <a:cs typeface="Aptos"/>
              </a:rPr>
              <a:t>Jiarun Liu</a:t>
            </a:r>
            <a:r>
              <a:rPr sz="2200">
                <a:solidFill>
                  <a:srgbClr val="E6EDF3"/>
                </a:solidFill>
                <a:latin typeface="Aptos"/>
                <a:ea typeface="Aptos"/>
                <a:cs typeface="Aptos"/>
              </a:rPr>
              <a:t>, Stanislav Listopad, Qian Peng  |  UCSD, Scripps Research  |  RSA 2026  |  Poster # S12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BEE8B62-79FB-4A91-AB7F-694B0E54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94647"/>
            <a:ext cx="32735520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FF3D5"/>
                </a:solidFill>
                <a:latin typeface="Aptos"/>
                <a:ea typeface="Aptos"/>
                <a:cs typeface="Aptos"/>
              </a:rPr>
              <a:t>Keywords: AUD risk and comorbidity, All Of Us, Electronic Health Record (EHR)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3997F32-4728-4796-8EEF-B67C2A47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709160"/>
            <a:ext cx="128625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6756EF6-58F4-40B9-9183-F01084EA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773168"/>
            <a:ext cx="1246022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1. Abstract, Workflow &amp; Study Design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9807597-EFF3-4924-8017-201525FC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94960"/>
            <a:ext cx="12862560" cy="164592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AD2D9"/>
            </a:solidFill>
            <a:prstDash val="solid"/>
          </a:ln>
          <a:effectLst xmlns:a="http://schemas.openxmlformats.org/drawingml/2006/main">
            <a:outerShdw blurRad="12700" dist="50800" dir="2700000" algn="bl" rotWithShape="0">
              <a:srgbClr val="B9C1CA">
                <a:alpha val="12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B763FC3-D9C1-4DFD-8474-C4FB46CF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5559552"/>
            <a:ext cx="1235049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Study question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06B0043-433A-4984-9631-61414C44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934456"/>
            <a:ext cx="12222480" cy="9326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Which clinical conditions are associated with AUD after adjusting for demographic, behavioral, socioeconomic, and family-history factors?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18B3100-4A97-4FB4-806A-A4BA0993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315200"/>
            <a:ext cx="12862560" cy="676656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AD2D9"/>
            </a:solidFill>
            <a:prstDash val="solid"/>
          </a:ln>
          <a:effectLst xmlns:a="http://schemas.openxmlformats.org/drawingml/2006/main">
            <a:outerShdw blurRad="12700" dist="50800" dir="2700000" algn="bl" rotWithShape="0">
              <a:srgbClr val="B9C1CA">
                <a:alpha val="12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9CDAEA8-058C-4E41-9504-083051C9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7483901"/>
            <a:ext cx="1235049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Abstract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0AE3220-DA14-4250-BDEC-3C6017BE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9185148"/>
            <a:ext cx="2880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Survey-based analysis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9D9EC90-28BA-43C1-B64D-D4514263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215116"/>
            <a:ext cx="2880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EHR-based analysis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32395F6-982A-4AC3-A6D0-669D5131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7987284"/>
            <a:ext cx="11856720" cy="57652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50000"/>
              </a:lnSpc>
              <a:buNone/>
            </a:pPr>
            <a:r>
              <a:rPr>
                <a:solidFill>
                  <a:srgbClr val="17212B"/>
                </a:solidFill>
                <a:latin typeface="Aptos"/>
                <a:ea typeface="Aptos"/>
                <a:cs typeface="Aptos"/>
              </a:rPr>
              <a:t>Alcohol use disorder (AUD) is clinically complex and often co-occurs with psychiatric, substance-use, liver-related, behavioral, socioeconomic, and family-history factors. This study used the All of Us Research Program to characterize conditions associated with AUD across two complementary data sources: participant-reported survey data and electronic health record (EHR) diagnosis data.</a:t>
            </a:r>
          </a:p>
          <a:p xmlns:a="http://schemas.openxmlformats.org/drawingml/2006/main">
            <a:pPr marL="0" indent="0" algn="l">
              <a:lnSpc>
                <a:spcPct val="150000"/>
              </a:lnSpc>
              <a:buNone/>
            </a:pPr>
          </a:p>
          <a:p xmlns:a="http://schemas.openxmlformats.org/drawingml/2006/main">
            <a:pPr marL="0" indent="0" algn="l">
              <a:lnSpc>
                <a:spcPct val="150000"/>
              </a:lnSpc>
              <a:buNone/>
            </a:pPr>
            <a:r>
              <a:rPr>
                <a:solidFill>
                  <a:srgbClr val="17212B"/>
                </a:solidFill>
                <a:latin typeface="Aptos"/>
                <a:ea typeface="Aptos"/>
                <a:cs typeface="Aptos"/>
              </a:rPr>
              <a:t>Survey-based AUD was defined from the Personal and Family Health History survey, while EHR-based AUD was defined from clinical diagnosis records. Candidate predictors included approximately 150 survey-reported conditions and the top 1,000 most prevalent non-AUD EHR conditions. Each condition was tested one at a time using logistic regression with covariate adjustment. Models included a basic demographic adjustment set and an expanded set incorporating behavioral, socioeconomic, and family-history variables.</a:t>
            </a:r>
          </a:p>
          <a:p xmlns:a="http://schemas.openxmlformats.org/drawingml/2006/main">
            <a:pPr marL="0" indent="0" algn="l">
              <a:lnSpc>
                <a:spcPct val="150000"/>
              </a:lnSpc>
              <a:buNone/>
            </a:pPr>
          </a:p>
          <a:p xmlns:a="http://schemas.openxmlformats.org/drawingml/2006/main">
            <a:pPr marL="0" indent="0" algn="l">
              <a:lnSpc>
                <a:spcPct val="150000"/>
              </a:lnSpc>
              <a:buNone/>
            </a:pPr>
            <a:r>
              <a:rPr>
                <a:solidFill>
                  <a:srgbClr val="17212B"/>
                </a:solidFill>
                <a:latin typeface="Aptos"/>
                <a:ea typeface="Aptos"/>
                <a:cs typeface="Aptos"/>
              </a:rPr>
              <a:t>Across both survey and EHR analyses, the strongest AUD-associated conditions clustered around substance-use-related conditions, psychiatric conditions, and liver or pancreatic disease. Survey and EHR data were not interchangeable, but they provided complementary evidence for consistent AUD-associated comorbidity patterns.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F7BAEE8-2527-4EC9-9C70-A9BEB854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4538960"/>
            <a:ext cx="12862560" cy="8101584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AD2D9"/>
            </a:solidFill>
            <a:prstDash val="solid"/>
          </a:ln>
          <a:effectLst xmlns:a="http://schemas.openxmlformats.org/drawingml/2006/main">
            <a:outerShdw blurRad="12700" dist="50800" dir="2700000" algn="bl" rotWithShape="0">
              <a:srgbClr val="B9C1CA">
                <a:alpha val="12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EFDC47A6-F696-479E-B145-06B73BD4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4716515"/>
            <a:ext cx="1235049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33480E40-EB3A-4362-B113-0E9D8DBE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356595"/>
            <a:ext cx="12131040" cy="6881613"/>
          </a:xfrm>
          <a:prstGeom xmlns:a="http://schemas.openxmlformats.org/drawingml/2006/main" prst="roundRect">
            <a:avLst>
              <a:gd name="adj" fmla="val 1569"/>
            </a:avLst>
          </a:prstGeom>
          <a:solidFill xmlns:a="http://schemas.openxmlformats.org/drawingml/2006/main">
            <a:srgbClr val="F2F5F8"/>
          </a:solidFill>
          <a:ln xmlns:a="http://schemas.openxmlformats.org/drawingml/2006/main" w="19050">
            <a:solidFill>
              <a:srgbClr val="7C8B9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D6D14624-EE4D-4461-A673-E0A1728D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097743"/>
            <a:ext cx="12862560" cy="7320187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AD2D9"/>
            </a:solidFill>
            <a:prstDash val="solid"/>
          </a:ln>
          <a:effectLst xmlns:a="http://schemas.openxmlformats.org/drawingml/2006/main">
            <a:outerShdw blurRad="12700" dist="50800" dir="2700000" algn="bl" rotWithShape="0">
              <a:srgbClr val="B9C1CA">
                <a:alpha val="12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417A13A-738C-4EDF-9014-44C2ADA5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3270670"/>
            <a:ext cx="1235049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2D176F4B-3E65-439D-AC8A-2232F40A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720" y="4709160"/>
            <a:ext cx="128625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12700">
            <a:solidFill>
              <a:srgbClr val="16324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2D6FD00B-0D5F-4BBD-BCA6-76A2293A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3888" y="4773168"/>
            <a:ext cx="1246022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2. Cohort &amp; Covariate G</a:t>
            </a: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roups</a:t>
            </a:r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F4FC8854-76B2-4AE3-AE32-649B0CF8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720" y="5394960"/>
            <a:ext cx="12862560" cy="6812280"/>
          </a:xfrm>
          <a:prstGeom xmlns:a="http://schemas.openxmlformats.org/drawingml/2006/main" prst="roundRect">
            <a:avLst>
              <a:gd name="adj" fmla="val 28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AD2D9"/>
            </a:solidFill>
            <a:prstDash val="solid"/>
          </a:ln>
          <a:effectLst xmlns:a="http://schemas.openxmlformats.org/drawingml/2006/main">
            <a:outerShdw blurRad="12700" dist="50800" dir="2700000" algn="bl" rotWithShape="0">
              <a:srgbClr val="B9C1CA">
                <a:alpha val="12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7" name="Shape 75">
            <a:extLst xmlns:a="http://schemas.openxmlformats.org/drawingml/2006/main">
              <a:ext uri="{FF2B5EF4-FFF2-40B4-BE49-F238E27FC236}">
                <a16:creationId xmlns:a16="http://schemas.microsoft.com/office/drawing/2014/main" id="{BCF8DD11-A5C8-4545-AFB0-BE8A16D7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720" y="20651932"/>
            <a:ext cx="128625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9C2D"/>
          </a:solidFill>
          <a:ln xmlns:a="http://schemas.openxmlformats.org/drawingml/2006/main" w="12700">
            <a:solidFill>
              <a:srgbClr val="D39C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8" name="Text 76">
            <a:extLst xmlns:a="http://schemas.openxmlformats.org/drawingml/2006/main">
              <a:ext uri="{FF2B5EF4-FFF2-40B4-BE49-F238E27FC236}">
                <a16:creationId xmlns:a16="http://schemas.microsoft.com/office/drawing/2014/main" id="{AFD0493B-9C1B-4980-B09E-320BC4DF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3888" y="20715732"/>
            <a:ext cx="1246022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3. Main Results &amp; Takeaway</a:t>
            </a:r>
          </a:p>
        </p:txBody>
      </p:sp>
      <p:sp>
        <p:nvSpPr>
          <p:cNvPr id="79" name="Shape 77">
            <a:extLst xmlns:a="http://schemas.openxmlformats.org/drawingml/2006/main">
              <a:ext uri="{FF2B5EF4-FFF2-40B4-BE49-F238E27FC236}">
                <a16:creationId xmlns:a16="http://schemas.microsoft.com/office/drawing/2014/main" id="{14ECA1CE-ED07-4B7B-B616-67C03099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8200" y="5394960"/>
            <a:ext cx="12862560" cy="11338560"/>
          </a:xfrm>
          <a:prstGeom xmlns:a="http://schemas.openxmlformats.org/drawingml/2006/main" prst="roundRect">
            <a:avLst>
              <a:gd name="adj" fmla="val 12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AD2D9"/>
            </a:solidFill>
            <a:prstDash val="solid"/>
          </a:ln>
          <a:effectLst xmlns:a="http://schemas.openxmlformats.org/drawingml/2006/main">
            <a:outerShdw blurRad="12700" dist="50800" dir="2700000" algn="bl" rotWithShape="0">
              <a:srgbClr val="B9C1CA">
                <a:alpha val="12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705D37B4-A68E-4D3A-9D78-9884D885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4232" y="5559552"/>
            <a:ext cx="1235049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D39C2D"/>
                </a:solidFill>
                <a:latin typeface="Aptos"/>
                <a:ea typeface="Aptos"/>
                <a:cs typeface="Aptos"/>
              </a:rPr>
              <a:t>Survey–EHR Comparison: Convergent AUD Signals</a:t>
            </a:r>
          </a:p>
        </p:txBody>
      </p:sp>
      <p:sp>
        <p:nvSpPr>
          <p:cNvPr id="81" name="Shape 79">
            <a:extLst xmlns:a="http://schemas.openxmlformats.org/drawingml/2006/main">
              <a:ext uri="{FF2B5EF4-FFF2-40B4-BE49-F238E27FC236}">
                <a16:creationId xmlns:a16="http://schemas.microsoft.com/office/drawing/2014/main" id="{9CFA1D9C-6846-41CD-87FC-6DE4EEF9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73960" y="6035040"/>
            <a:ext cx="12131040" cy="9006840"/>
          </a:xfrm>
          <a:prstGeom xmlns:a="http://schemas.openxmlformats.org/drawingml/2006/main" prst="roundRect">
            <a:avLst>
              <a:gd name="adj" fmla="val 1218"/>
            </a:avLst>
          </a:prstGeom>
          <a:solidFill xmlns:a="http://schemas.openxmlformats.org/drawingml/2006/main">
            <a:srgbClr val="F2F5F8"/>
          </a:solidFill>
          <a:ln xmlns:a="http://schemas.openxmlformats.org/drawingml/2006/main" w="19050">
            <a:solidFill>
              <a:srgbClr val="7C8B9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5" name="Shape 83">
            <a:extLst xmlns:a="http://schemas.openxmlformats.org/drawingml/2006/main">
              <a:ext uri="{FF2B5EF4-FFF2-40B4-BE49-F238E27FC236}">
                <a16:creationId xmlns:a16="http://schemas.microsoft.com/office/drawing/2014/main" id="{6EFCAAC7-51C7-48BD-8C8D-2B08EC90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8200" y="17099280"/>
            <a:ext cx="12862560" cy="7635240"/>
          </a:xfrm>
          <a:prstGeom xmlns:a="http://schemas.openxmlformats.org/drawingml/2006/main" prst="roundRect">
            <a:avLst>
              <a:gd name="adj" fmla="val 17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AD2D9"/>
            </a:solidFill>
            <a:prstDash val="solid"/>
          </a:ln>
          <a:effectLst xmlns:a="http://schemas.openxmlformats.org/drawingml/2006/main">
            <a:outerShdw blurRad="12700" dist="50800" dir="2700000" algn="bl" rotWithShape="0">
              <a:srgbClr val="B9C1CA">
                <a:alpha val="12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6" name="Text 84">
            <a:extLst xmlns:a="http://schemas.openxmlformats.org/drawingml/2006/main">
              <a:ext uri="{FF2B5EF4-FFF2-40B4-BE49-F238E27FC236}">
                <a16:creationId xmlns:a16="http://schemas.microsoft.com/office/drawing/2014/main" id="{69E4ED5A-2470-4E7A-ABB1-C6D4C867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4232" y="17263872"/>
            <a:ext cx="1235049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D39C2D"/>
                </a:solidFill>
                <a:latin typeface="Aptos"/>
                <a:ea typeface="Aptos"/>
                <a:cs typeface="Aptos"/>
              </a:rPr>
              <a:t>Survey–EHR comparison</a:t>
            </a:r>
          </a:p>
        </p:txBody>
      </p:sp>
      <p:sp>
        <p:nvSpPr>
          <p:cNvPr id="90" name="Shape 88">
            <a:extLst xmlns:a="http://schemas.openxmlformats.org/drawingml/2006/main">
              <a:ext uri="{FF2B5EF4-FFF2-40B4-BE49-F238E27FC236}">
                <a16:creationId xmlns:a16="http://schemas.microsoft.com/office/drawing/2014/main" id="{31982090-7DEA-4768-B514-D5C533A2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8200" y="25054560"/>
            <a:ext cx="12862560" cy="536337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AD2D9"/>
            </a:solidFill>
            <a:prstDash val="solid"/>
          </a:ln>
          <a:effectLst xmlns:a="http://schemas.openxmlformats.org/drawingml/2006/main">
            <a:outerShdw blurRad="12700" dist="50800" dir="2700000" algn="bl" rotWithShape="0">
              <a:srgbClr val="B9C1CA">
                <a:alpha val="12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1" name="Text 89">
            <a:extLst xmlns:a="http://schemas.openxmlformats.org/drawingml/2006/main">
              <a:ext uri="{FF2B5EF4-FFF2-40B4-BE49-F238E27FC236}">
                <a16:creationId xmlns:a16="http://schemas.microsoft.com/office/drawing/2014/main" id="{53EDD840-A5B5-432C-9797-E0C9EDED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4232" y="25219152"/>
            <a:ext cx="1235049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D39C2D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92" name="Text 90">
            <a:extLst xmlns:a="http://schemas.openxmlformats.org/drawingml/2006/main">
              <a:ext uri="{FF2B5EF4-FFF2-40B4-BE49-F238E27FC236}">
                <a16:creationId xmlns:a16="http://schemas.microsoft.com/office/drawing/2014/main" id="{A3F33324-1F5D-43C7-AFA7-C581BF00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9680" y="25648920"/>
            <a:ext cx="12039600" cy="448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t">
            <a:noAutofit/>
          </a:bodyPr>
          <a:lstStyle xmlns:a="http://schemas.openxmlformats.org/drawingml/2006/main"/>
          <a:p xmlns:a="http://schemas.openxmlformats.org/drawingml/2006/main">
            <a:pPr marL="342900" indent="-342900">
              <a:lnSpc>
                <a:spcPct val="160000"/>
              </a:lnSpc>
              <a:buChar char="•"/>
            </a:pPr>
            <a:r>
              <a:rPr>
                <a:solidFill>
                  <a:srgbClr val="17212B"/>
                </a:solidFill>
                <a:latin typeface="Aptos"/>
                <a:ea typeface="Aptos"/>
                <a:cs typeface="Aptos"/>
              </a:rPr>
              <a:t>AUD-associated conditions clustered around three major clinical domains: substance use, mental health, and liver/pancreatic disease.</a:t>
            </a:r>
          </a:p>
          <a:p xmlns:a="http://schemas.openxmlformats.org/drawingml/2006/main">
            <a:pPr marL="342900" indent="-342900">
              <a:lnSpc>
                <a:spcPct val="160000"/>
              </a:lnSpc>
              <a:buChar char="•"/>
            </a:pPr>
            <a:r>
              <a:rPr>
                <a:solidFill>
                  <a:srgbClr val="17212B"/>
                </a:solidFill>
                <a:latin typeface="Aptos"/>
                <a:ea typeface="Aptos"/>
                <a:cs typeface="Aptos"/>
              </a:rPr>
              <a:t>Similar clinical themes appeared in both survey-reported and EHR-derived analyses, supporting a consistent AUD-related comorbidity pattern across data sources.</a:t>
            </a:r>
          </a:p>
          <a:p xmlns:a="http://schemas.openxmlformats.org/drawingml/2006/main">
            <a:pPr marL="342900" indent="-342900">
              <a:lnSpc>
                <a:spcPct val="160000"/>
              </a:lnSpc>
              <a:buChar char="•"/>
            </a:pPr>
            <a:r>
              <a:rPr>
                <a:solidFill>
                  <a:srgbClr val="17212B"/>
                </a:solidFill>
                <a:latin typeface="Aptos"/>
                <a:ea typeface="Aptos"/>
                <a:cs typeface="Aptos"/>
              </a:rPr>
              <a:t>Survey and EHR data were not interchangeable: survey data captured participant-reported disease history, while EHR data reflected clinically documented diagnoses.</a:t>
            </a:r>
          </a:p>
          <a:p xmlns:a="http://schemas.openxmlformats.org/drawingml/2006/main">
            <a:pPr marL="342900" indent="-342900">
              <a:lnSpc>
                <a:spcPct val="160000"/>
              </a:lnSpc>
              <a:buChar char="•"/>
            </a:pPr>
            <a:r>
              <a:rPr>
                <a:solidFill>
                  <a:srgbClr val="17212B"/>
                </a:solidFill>
                <a:latin typeface="Aptos"/>
                <a:ea typeface="Aptos"/>
                <a:cs typeface="Aptos"/>
              </a:rPr>
              <a:t>Expanded covariate adjustment helped account for demographic, behavioral, socioeconomic, and family-history factors, making the observed associations more conservative and interpretable.</a:t>
            </a:r>
          </a:p>
          <a:p xmlns:a="http://schemas.openxmlformats.org/drawingml/2006/main">
            <a:pPr marL="342900" indent="-342900">
              <a:lnSpc>
                <a:spcPct val="160000"/>
              </a:lnSpc>
              <a:buChar char="•"/>
            </a:pPr>
            <a:r>
              <a:rPr>
                <a:solidFill>
                  <a:srgbClr val="17212B"/>
                </a:solidFill>
                <a:latin typeface="Aptos"/>
                <a:ea typeface="Aptos"/>
                <a:cs typeface="Aptos"/>
              </a:rPr>
              <a:t>These findings suggest that linked survey and EHR data from All of Us can help characterize the broader clinical and social context of AUD.</a:t>
            </a:r>
          </a:p>
        </p:txBody>
      </p:sp>
      <p:sp>
        <p:nvSpPr>
          <p:cNvPr id="94" name="Shape 92">
            <a:extLst xmlns:a="http://schemas.openxmlformats.org/drawingml/2006/main">
              <a:ext uri="{FF2B5EF4-FFF2-40B4-BE49-F238E27FC236}">
                <a16:creationId xmlns:a16="http://schemas.microsoft.com/office/drawing/2014/main" id="{B5A467DD-77FC-4F3B-9695-75565681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135" y="30890052"/>
            <a:ext cx="41148000" cy="205590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2"/>
          </a:solidFill>
          <a:ln xmlns:a="http://schemas.openxmlformats.org/drawingml/2006/main" w="12700">
            <a:solidFill>
              <a:srgbClr val="E8ED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C415E943-8BB4-4DEA-B928-C463DF61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1222603"/>
            <a:ext cx="6400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Acknowledgements</a:t>
            </a:r>
          </a:p>
        </p:txBody>
      </p:sp>
      <p:sp>
        <p:nvSpPr>
          <p:cNvPr id="96" name="Text 94">
            <a:extLst xmlns:a="http://schemas.openxmlformats.org/drawingml/2006/main">
              <a:ext uri="{FF2B5EF4-FFF2-40B4-BE49-F238E27FC236}">
                <a16:creationId xmlns:a16="http://schemas.microsoft.com/office/drawing/2014/main" id="{F1230E12-12A6-45CF-A6DC-36993BAB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1679803"/>
            <a:ext cx="9646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Funded by grants from National Institute on Alcoholism and Alcohol Abuse (NIAAA) T32 AA007456, and National Institute of Drug Abuse (NIDA) grants DP1 DA054373.</a:t>
            </a:r>
          </a:p>
        </p:txBody>
      </p:sp>
      <p:sp>
        <p:nvSpPr>
          <p:cNvPr id="99" name="Shape 97">
            <a:extLst xmlns:a="http://schemas.openxmlformats.org/drawingml/2006/main">
              <a:ext uri="{FF2B5EF4-FFF2-40B4-BE49-F238E27FC236}">
                <a16:creationId xmlns:a16="http://schemas.microsoft.com/office/drawing/2014/main" id="{62F1D747-F759-48EF-979D-85372122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3895" y="31063788"/>
            <a:ext cx="1920240" cy="192024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AD2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" name="Text 98">
            <a:extLst xmlns:a="http://schemas.openxmlformats.org/drawingml/2006/main">
              <a:ext uri="{FF2B5EF4-FFF2-40B4-BE49-F238E27FC236}">
                <a16:creationId xmlns:a16="http://schemas.microsoft.com/office/drawing/2014/main" id="{3A632BAF-3408-4111-8282-49379F23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1360" y="31890115"/>
            <a:ext cx="1920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5B6773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pic>
        <p:nvPicPr>
          <p:cNvPr id="177" name="图形 10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cbdcabde24468">
            <a:extLst>
              <a:ext uri="{96DAC541-7B7A-43D3-8B79-37D633B846F1}">
                <asvg:svgBlip xmlns:asvg="http://schemas.microsoft.com/office/drawing/2016/SVG/main" r:embed="R09716ef2324340f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274163" y="929408"/>
            <a:ext cx="4657701" cy="886413"/>
          </a:xfrm>
          <a:prstGeom xmlns:a="http://schemas.openxmlformats.org/drawingml/2006/main" prst="rect">
            <a:avLst/>
          </a:prstGeom>
        </p:spPr>
      </p:pic>
      <p:pic>
        <p:nvPicPr>
          <p:cNvPr id="178" name="图形 1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3bcfe246fb433b">
            <a:extLst>
              <a:ext uri="{96DAC541-7B7A-43D3-8B79-37D633B846F1}">
                <asvg:svgBlip xmlns:asvg="http://schemas.microsoft.com/office/drawing/2016/SVG/main" r:embed="R0147d911ca47422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274163" y="2392930"/>
            <a:ext cx="6098588" cy="744456"/>
          </a:xfrm>
          <a:prstGeom xmlns:a="http://schemas.openxmlformats.org/drawingml/2006/main" prst="rect">
            <a:avLst/>
          </a:prstGeom>
        </p:spPr>
      </p:pic>
      <p:pic>
        <p:nvPicPr>
          <p:cNvPr id="179" name="图片 1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524e597d541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42694" y="15899796"/>
            <a:ext cx="12023091" cy="5710899"/>
          </a:xfrm>
          <a:prstGeom xmlns:a="http://schemas.openxmlformats.org/drawingml/2006/main" prst="rect">
            <a:avLst/>
          </a:prstGeom>
        </p:spPr>
      </p:pic>
      <p:sp>
        <p:nvSpPr>
          <p:cNvPr id="114" name="Text 27">
            <a:extLst xmlns:a="http://schemas.openxmlformats.org/drawingml/2006/main">
              <a:ext uri="{FF2B5EF4-FFF2-40B4-BE49-F238E27FC236}">
                <a16:creationId xmlns:a16="http://schemas.microsoft.com/office/drawing/2014/main" id="{AC2859A2-F6F9-A8B3-950E-BAC9C97C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873132"/>
            <a:ext cx="11856720" cy="5879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t">
            <a:normAutofit/>
          </a:bodyPr>
          <a:lstStyle xmlns:a="http://schemas.openxmlformats.org/drawingml/2006/main"/>
          <a:p xmlns:a="http://schemas.openxmlformats.org/drawingml/2006/main">
            <a:pPr marL="285750" indent="-285750">
              <a:buChar char="•"/>
            </a:pPr>
            <a:r>
              <a:rPr b="1"/>
              <a:t>Data source:</a:t>
            </a:r>
            <a:r>
              <a:t> All of Us Research Program survey and electronic health record (EHR) data</a:t>
            </a:r>
          </a:p>
          <a:p xmlns:a="http://schemas.openxmlformats.org/drawingml/2006/main">
            <a:pPr marL="285750" indent="-285750">
              <a:buChar char="•"/>
            </a:pPr>
            <a:r>
              <a:rPr b="1"/>
              <a:t>AUD outcome definitions:</a:t>
            </a:r>
          </a:p>
          <a:p xmlns:a="http://schemas.openxmlformats.org/drawingml/2006/main">
            <a:pPr marL="742950" indent="-285750">
              <a:buChar char="•"/>
            </a:pPr>
            <a:r>
              <a:t>Survey AUD: defined from the Personal and Family Health History survey</a:t>
            </a:r>
          </a:p>
          <a:p xmlns:a="http://schemas.openxmlformats.org/drawingml/2006/main">
            <a:pPr marL="742950" indent="-285750">
              <a:buChar char="•"/>
            </a:pPr>
            <a:r>
              <a:t>EHR AUD: defined from clinical diagnosis records</a:t>
            </a:r>
          </a:p>
          <a:p xmlns:a="http://schemas.openxmlformats.org/drawingml/2006/main">
            <a:pPr marL="285750" indent="-285750">
              <a:buChar char="•"/>
            </a:pPr>
            <a:r>
              <a:rPr b="1"/>
              <a:t>Candidate condition screens:</a:t>
            </a:r>
          </a:p>
          <a:p xmlns:a="http://schemas.openxmlformats.org/drawingml/2006/main">
            <a:pPr marL="742950" indent="-285750">
              <a:buChar char="•"/>
            </a:pPr>
            <a:r>
              <a:t>Survey screen: ~150 survey-reported diseases/conditions</a:t>
            </a:r>
          </a:p>
          <a:p xmlns:a="http://schemas.openxmlformats.org/drawingml/2006/main">
            <a:pPr marL="742950" indent="-285750">
              <a:buChar char="•"/>
            </a:pPr>
            <a:r>
              <a:t>EHR screen: top 1,000 most prevalent non-AUD EHR conditions</a:t>
            </a:r>
          </a:p>
          <a:p xmlns:a="http://schemas.openxmlformats.org/drawingml/2006/main">
            <a:pPr marL="285750" indent="-285750">
              <a:buChar char="•"/>
            </a:pPr>
            <a:r>
              <a:rPr b="1"/>
              <a:t>Modeling approach:</a:t>
            </a:r>
          </a:p>
          <a:p xmlns:a="http://schemas.openxmlformats.org/drawingml/2006/main">
            <a:pPr marL="742950" indent="-285750">
              <a:buChar char="•"/>
            </a:pPr>
            <a:r>
              <a:t>Tested each candidate condition one at a time</a:t>
            </a:r>
          </a:p>
          <a:p xmlns:a="http://schemas.openxmlformats.org/drawingml/2006/main">
            <a:pPr marL="742950" indent="-285750">
              <a:buChar char="•"/>
            </a:pPr>
            <a:r>
              <a:t>Used logistic regression to estimate each condition’s association with binary AUD status</a:t>
            </a:r>
          </a:p>
          <a:p xmlns:a="http://schemas.openxmlformats.org/drawingml/2006/main">
            <a:pPr marL="742950" indent="-285750">
              <a:buChar char="•"/>
            </a:pPr>
            <a:r>
              <a:t>Reported adjusted odds ratios and confidence intervals</a:t>
            </a:r>
          </a:p>
          <a:p xmlns:a="http://schemas.openxmlformats.org/drawingml/2006/main">
            <a:pPr marL="285750" indent="-285750">
              <a:buChar char="•"/>
            </a:pPr>
            <a:r>
              <a:rPr b="1"/>
              <a:t>Covariate adjustment:</a:t>
            </a:r>
          </a:p>
          <a:p xmlns:a="http://schemas.openxmlformats.org/drawingml/2006/main">
            <a:pPr marL="742950" indent="-285750">
              <a:buChar char="•"/>
            </a:pPr>
            <a:r>
              <a:t>Basic model: age, race/ethnicity, sex at birth, education</a:t>
            </a:r>
          </a:p>
          <a:p xmlns:a="http://schemas.openxmlformats.org/drawingml/2006/main">
            <a:pPr marL="742950" indent="-285750">
              <a:buChar char="•"/>
            </a:pPr>
            <a:r>
              <a:t>Expanded model: marital status, health insurance, employment, household income, smoking history, and AUD family history</a:t>
            </a:r>
          </a:p>
          <a:p xmlns:a="http://schemas.openxmlformats.org/drawingml/2006/main">
            <a:pPr marL="742950" indent="-285750">
              <a:buChar char="•"/>
            </a:pPr>
            <a:r>
              <a:t>Education was removed from the final expanded model after losing independent significance under richer adjustment</a:t>
            </a:r>
          </a:p>
          <a:p xmlns:a="http://schemas.openxmlformats.org/drawingml/2006/main">
            <a:pPr marL="285750" indent="-285750">
              <a:buChar char="•"/>
            </a:pPr>
            <a:r>
              <a:rPr b="1"/>
              <a:t>Survey–EHR comparison:</a:t>
            </a:r>
          </a:p>
          <a:p xmlns:a="http://schemas.openxmlformats.org/drawingml/2006/main">
            <a:pPr marL="742950" indent="-285750">
              <a:buChar char="•"/>
            </a:pPr>
            <a:r>
              <a:t>Matched similar condition names across survey and EHR sources using text similarity</a:t>
            </a:r>
          </a:p>
          <a:p xmlns:a="http://schemas.openxmlformats.org/drawingml/2006/main">
            <a:pPr marL="742950" indent="-285750">
              <a:buChar char="•"/>
            </a:pPr>
            <a:r>
              <a:t>Compared adjusted odds ratios to identify convergent AUD-associated clinical signals</a:t>
            </a:r>
          </a:p>
        </p:txBody>
      </p:sp>
      <p:pic>
        <p:nvPicPr>
          <p:cNvPr id="181" name="图片 1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ed32e4302741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88575" y="6168458"/>
            <a:ext cx="10170850" cy="5724144"/>
          </a:xfrm>
          <a:prstGeom xmlns:a="http://schemas.openxmlformats.org/drawingml/2006/main" prst="rect">
            <a:avLst/>
          </a:prstGeom>
        </p:spPr>
      </p:pic>
      <p:sp>
        <p:nvSpPr>
          <p:cNvPr id="119" name="Text 63">
            <a:extLst xmlns:a="http://schemas.openxmlformats.org/drawingml/2006/main">
              <a:ext uri="{FF2B5EF4-FFF2-40B4-BE49-F238E27FC236}">
                <a16:creationId xmlns:a16="http://schemas.microsoft.com/office/drawing/2014/main" id="{B518396D-400A-4798-9F61-AF1D47B7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8752" y="5555810"/>
            <a:ext cx="1235049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Cohort Statistics</a:t>
            </a:r>
          </a:p>
        </p:txBody>
      </p:sp>
      <p:pic>
        <p:nvPicPr>
          <p:cNvPr id="183" name="图片 1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d731a7e0748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00742" y="13352323"/>
            <a:ext cx="10980756" cy="6001219"/>
          </a:xfrm>
          <a:prstGeom xmlns:a="http://schemas.openxmlformats.org/drawingml/2006/main" prst="rect">
            <a:avLst/>
          </a:prstGeom>
        </p:spPr>
      </p:pic>
      <p:sp>
        <p:nvSpPr>
          <p:cNvPr id="122" name="Shape 75">
            <a:extLst xmlns:a="http://schemas.openxmlformats.org/drawingml/2006/main">
              <a:ext uri="{FF2B5EF4-FFF2-40B4-BE49-F238E27FC236}">
                <a16:creationId xmlns:a16="http://schemas.microsoft.com/office/drawing/2014/main" id="{902A062F-6F3C-0CE2-3EF6-29522645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8200" y="4714021"/>
            <a:ext cx="128625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9C2D"/>
          </a:solidFill>
          <a:ln xmlns:a="http://schemas.openxmlformats.org/drawingml/2006/main" w="12700">
            <a:solidFill>
              <a:srgbClr val="D39C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3" name="Text 76">
            <a:extLst xmlns:a="http://schemas.openxmlformats.org/drawingml/2006/main">
              <a:ext uri="{FF2B5EF4-FFF2-40B4-BE49-F238E27FC236}">
                <a16:creationId xmlns:a16="http://schemas.microsoft.com/office/drawing/2014/main" id="{BA464B5B-3B47-8DC9-1C33-1D1F81B1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09368" y="4778029"/>
            <a:ext cx="1246022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3. Main Results &amp; Takeaway (Cont’d)</a:t>
            </a:r>
          </a:p>
        </p:txBody>
      </p:sp>
      <p:sp>
        <p:nvSpPr>
          <p:cNvPr id="124" name="Shape 83">
            <a:extLst xmlns:a="http://schemas.openxmlformats.org/drawingml/2006/main">
              <a:ext uri="{FF2B5EF4-FFF2-40B4-BE49-F238E27FC236}">
                <a16:creationId xmlns:a16="http://schemas.microsoft.com/office/drawing/2014/main" id="{8B0D2B54-F6B7-5B50-ECF1-61F0B555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720" y="21387816"/>
            <a:ext cx="12862560" cy="9030114"/>
          </a:xfrm>
          <a:prstGeom xmlns:a="http://schemas.openxmlformats.org/drawingml/2006/main" prst="roundRect">
            <a:avLst>
              <a:gd name="adj" fmla="val 17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AD2D9"/>
            </a:solidFill>
            <a:prstDash val="solid"/>
          </a:ln>
          <a:effectLst xmlns:a="http://schemas.openxmlformats.org/drawingml/2006/main">
            <a:outerShdw blurRad="12700" dist="50800" dir="2700000" algn="bl" rotWithShape="0">
              <a:srgbClr val="B9C1CA">
                <a:alpha val="12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5" name="Text 84">
            <a:extLst xmlns:a="http://schemas.openxmlformats.org/drawingml/2006/main">
              <a:ext uri="{FF2B5EF4-FFF2-40B4-BE49-F238E27FC236}">
                <a16:creationId xmlns:a16="http://schemas.microsoft.com/office/drawing/2014/main" id="{26D1F150-60EC-FB91-54FB-CDF56783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8752" y="21749004"/>
            <a:ext cx="1235049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D39C2D"/>
                </a:solidFill>
                <a:latin typeface="Aptos"/>
                <a:ea typeface="Aptos"/>
                <a:cs typeface="Aptos"/>
              </a:rPr>
              <a:t>Expanded-Adjustment Condition Associations with AUD</a:t>
            </a:r>
          </a:p>
        </p:txBody>
      </p:sp>
      <p:pic>
        <p:nvPicPr>
          <p:cNvPr id="188" name="图片 12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6874f7ab8441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152149" y="23590710"/>
            <a:ext cx="5487371" cy="4601751"/>
          </a:xfrm>
          <a:prstGeom xmlns:a="http://schemas.openxmlformats.org/drawingml/2006/main" prst="rect">
            <a:avLst/>
          </a:prstGeom>
        </p:spPr>
      </p:pic>
      <p:pic>
        <p:nvPicPr>
          <p:cNvPr id="189" name="图片 1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d1e8b1befb48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398752" y="23574501"/>
            <a:ext cx="6847592" cy="4634739"/>
          </a:xfrm>
          <a:prstGeom xmlns:a="http://schemas.openxmlformats.org/drawingml/2006/main" prst="rect">
            <a:avLst/>
          </a:prstGeom>
        </p:spPr>
      </p:pic>
      <p:pic>
        <p:nvPicPr>
          <p:cNvPr id="190" name="图片 1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42d8eec69340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695014" y="6449610"/>
            <a:ext cx="10488932" cy="8105620"/>
          </a:xfrm>
          <a:prstGeom xmlns:a="http://schemas.openxmlformats.org/drawingml/2006/main" prst="rect">
            <a:avLst/>
          </a:prstGeom>
        </p:spPr>
      </p:pic>
      <p:pic>
        <p:nvPicPr>
          <p:cNvPr id="191" name="图片 1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accbd68ae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690488" y="18490825"/>
            <a:ext cx="6103407" cy="4825133"/>
          </a:xfrm>
          <a:prstGeom xmlns:a="http://schemas.openxmlformats.org/drawingml/2006/main" prst="rect">
            <a:avLst/>
          </a:prstGeom>
        </p:spPr>
      </p:pic>
      <p:pic>
        <p:nvPicPr>
          <p:cNvPr id="192" name="图片 1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3d30dc04e042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220615" y="18473854"/>
            <a:ext cx="6061268" cy="4825133"/>
          </a:xfrm>
          <a:prstGeom xmlns:a="http://schemas.openxmlformats.org/drawingml/2006/main" prst="rect">
            <a:avLst/>
          </a:prstGeom>
        </p:spPr>
      </p:pic>
      <p:pic>
        <p:nvPicPr>
          <p:cNvPr id="193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20bf3997f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36596" y="31208738"/>
            <a:ext cx="2589230" cy="667810"/>
          </a:xfrm>
          <a:prstGeom xmlns:a="http://schemas.openxmlformats.org/drawingml/2006/main" prst="rect">
            <a:avLst/>
          </a:prstGeom>
        </p:spPr>
      </p:pic>
      <p:pic>
        <p:nvPicPr>
          <p:cNvPr id="194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495c0f91d4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36596" y="32142046"/>
            <a:ext cx="2559939" cy="673668"/>
          </a:xfrm>
          <a:prstGeom xmlns:a="http://schemas.openxmlformats.org/drawingml/2006/main" prst="rect">
            <a:avLst/>
          </a:prstGeom>
        </p:spPr>
      </p:pic>
      <p:pic>
        <p:nvPicPr>
          <p:cNvPr id="1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df397c92104842"/>
          <a:stretch xmlns:a="http://schemas.openxmlformats.org/drawingml/2006/main"/>
        </p:blipFill>
        <p:spPr>
          <a:xfrm xmlns:a="http://schemas.openxmlformats.org/drawingml/2006/main">
            <a:off x="33737550" y="30918150"/>
            <a:ext cx="1866900" cy="1866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8158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2026-06-17T09:43:53.1250000Z</dcterms:created>
  <dcterms:modified xsi:type="dcterms:W3CDTF">2026-06-17T09:43:53.1250000Z</dcterms:modified>
</coreProperties>
</file>